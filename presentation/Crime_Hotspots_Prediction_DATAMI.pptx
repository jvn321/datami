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We are Group 3 from CSE (Artificial Intelligence): Sam Sunny, Samerath Kumar, John Varghese Nettady, and Shannon George. Our project is titled 'Crime Hotspots Prediction', code-named DATAMI. It addresses municipal public safety across Kochi City and Ernakulam, aligned with UN SDGs 16, 11, and 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roadmap for our presentation. We will walk through the problem statement, official syllabus Course Outcome mapping, simplified UN SDGs 16, 11, and 9, formal engineering objectives, and our step-by-step pipeline from data extraction to live geospatial cartography.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focuses on practical, data-driven policing: By analyzing historical crime records across physical station jurisdictions, we identify high-risk areas and predict upcoming crime risk. This empowers police agencies to allocate patrol resources efficiently and prepare for sudden crime surges.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demonstrates how DATAMI maps directly to all 5 Course Outcomes of the KTU S5 Data Mining syllabus (PECST525): CO1 is fulfilled by warehousing and OLAP; CO2 by zero-policy and concept hierarchies; CO3 by CART decision tree classification; CO4 by lagged feature associations; and CO5 by web scraping, crime spree simulation, and Leaflet geospatial cartography.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details our direct contribution to three UN Sustainable Development Goals: SDG 16 through transparent, auditable decision trees for fair patrol allocation; SDG 11 through geospatial cartography safeguarding public urban spaces; and SDG 9 through an open-source, reproducible data mining infrastructure for state policing.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four engineering objectives: First, harvesting real Kerala Police records across 37 stations into a clean relational warehouse. Second, training an explainable CART Decision Tree to classify high-risk hotspots. Third, simulating crime sprees to identify understaffed stations and prove workload reduction. Fourth, delivering a full-stack geospatial WebUI with OpenStreetMap cartography.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outlines the complete data mining workflow implemented in DATAMI across 5 simple steps: Step 1: Harvesting raw portal tables and physical coordinates from official sources. Step 2: Cleaning and normalizing zero counts vs missing years. Step 3: Relational warehousing in SQLite with OLAP roll-up operations. Step 4: Machine learning risk prediction and crime spree surge simulation. Step 5: Interactive geospatial visualization on OpenStreetMap.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Step 1, we explain exactly where we scrape data from: First, ps.keralapolice.gov.in for 10-year crime counts, coordinates, and SHO contact info. Second, kochicity.keralapolice.gov.in for sanctioned staffing and vacancies. All data is cached locally to ensure 100% reproducibility and prevent state server throttling.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Step 2, we clarify key domain concepts: We distinguish true zero crimes from missing station years to avoid probability distortion. We define IPC offenses versus Special and Local Laws, noting that high SLL ratios reflect proactive police crackdowns. We also structure 3-tier spatial and legal concept hierarchies.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3A explains the atomic storage architecture in SQLite: The fact table crime_records stores 14,262 rows at the granular level of Station times Year times Crime Head. As seen on the right chart, 53.3% of rows are specific IPC crimes like Hurt, Cheating, and Theft, while 40% are Special and Local Laws like Prohibition and NDPS narcotics. This granular storage ensures complete legal auditability without information loss.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3B demonstrates our OLAP operations: Because raw fact records store specific offense heads, we perform roll-up aggregation along spatial and legal hierarchies. The chart on the right demonstrates how roll-up reveals true station volumes: Ernakulam Central registers 1,939 total crimes, with a balanced distribution between IPC property offenses and proactive Special Laws. Commanders can drill down to isolate drug arrests or slice by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Step 4A, we formulated 5 temporal features. Notice on the right chart that Lag-1 volume and the 2-year rolling average dominate predictions, explaining over 66% of model splits. We also define registration velocity and SLL ratio, using a strict chronological split (2016–2019 train, 2020–2025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4B displays our CART Decision Tree model. Why Decision Tree? Because police commanders need transparent, auditable rules rather than black-boxes. The tree on the right splits on lag1_cases, rolling_avg, and sll_ratio to produce transparent if-then rules with max depth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4C details our Crime Spree Surge Simulator: We model how crime surges increase officer caseloads. Under a +50% spree, 12 stations become understaffed. Our system mathematically proves how filling vacancies reduces workload from 45.9 down to 41.6 cases per officer.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4D reviews our model evaluation metrics: Our Decision Tree achieves 61.1% test accuracy, outperforming both the Zero-R Majority and Persistence baselines. The confusion matrix on the right shows the breakdown of true negatives, true positives, and misclassifications.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translates data mining into actionable policy: Total volume alone does not determine vulnerability—officer caseload ratio does. This allows police leadership to strategically reinforce stations like Town South and Panangad before crime sprees cause operational failure.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shows an authentic screenshot from our working Leaflet Web application. Why Geospatial WebUI? Because commanders need instant visual situational awareness. Officers can click any station pin on the map to open the side intelligence drawer, view historical crime trends, inspect 2026 risk predictions, and dynamically toggle crime spree surge scenarios.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justifies each technology selected: Python, FastAPI, and SQLite provide a robust, lightweight backend; scikit-learn delivers explainable CART trees; and React with Leaflet powers our responsive geospatial dashboard.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DATAMI bridges data mining theory and pragmatic law enforcement operations. We achieved 100% authentic data, explainable decision tree rules, and interactive crime spree simulation. Our future work will explore real-time CCTNS webhook integration and diurnal time binning.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academic and official references, covering foundational data mining texts, CART decision trees, state police portals, and peer-reviewed predictive policing literature. Thank you. We are now open for questions and evaluations.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3749039" y="228600"/>
            <a:ext cx="1645920" cy="934843"/>
          </a:xfrm>
          <a:prstGeom prst="rect">
            <a:avLst/>
          </a:prstGeom>
        </p:spPr>
      </p:pic>
      <p:sp>
        <p:nvSpPr>
          <p:cNvPr id="3" name="TextBox 2"/>
          <p:cNvSpPr txBox="1"/>
          <p:nvPr/>
        </p:nvSpPr>
        <p:spPr>
          <a:xfrm>
            <a:off x="548640" y="1280160"/>
            <a:ext cx="8046720" cy="1280160"/>
          </a:xfrm>
          <a:prstGeom prst="rect">
            <a:avLst/>
          </a:prstGeom>
          <a:noFill/>
        </p:spPr>
        <p:txBody>
          <a:bodyPr wrap="square">
            <a:spAutoFit/>
          </a:bodyPr>
          <a:lstStyle/>
          <a:p>
            <a:pPr algn="ctr">
              <a:defRPr sz="2800" b="1">
                <a:solidFill>
                  <a:srgbClr val="CC0000"/>
                </a:solidFill>
                <a:latin typeface="Calibri"/>
              </a:defRPr>
            </a:pPr>
            <a:r>
              <a:t>Crime Hotspots Prediction</a:t>
            </a:r>
          </a:p>
          <a:p>
            <a:pPr algn="ctr">
              <a:defRPr sz="1400" b="1">
                <a:solidFill>
                  <a:srgbClr val="0F172A"/>
                </a:solidFill>
                <a:latin typeface="Calibri"/>
              </a:defRPr>
            </a:pPr>
            <a:r>
              <a:t>DATAMI: Municipal Crime Analytics &amp; Police Station Readiness Platform</a:t>
            </a:r>
          </a:p>
          <a:p>
            <a:pPr algn="ctr">
              <a:defRPr sz="1100">
                <a:solidFill>
                  <a:srgbClr val="64748B"/>
                </a:solidFill>
                <a:latin typeface="Calibri"/>
              </a:defRPr>
            </a:pPr>
            <a:r>
              <a:t>Department of Computer Science &amp; Engineering (Artificial Intelligence)</a:t>
            </a:r>
          </a:p>
        </p:txBody>
      </p:sp>
      <p:sp>
        <p:nvSpPr>
          <p:cNvPr id="4" name="TextBox 3"/>
          <p:cNvSpPr txBox="1"/>
          <p:nvPr/>
        </p:nvSpPr>
        <p:spPr>
          <a:xfrm>
            <a:off x="548640" y="2651760"/>
            <a:ext cx="8046720" cy="365760"/>
          </a:xfrm>
          <a:prstGeom prst="rect">
            <a:avLst/>
          </a:prstGeom>
          <a:noFill/>
        </p:spPr>
        <p:txBody>
          <a:bodyPr wrap="none">
            <a:spAutoFit/>
          </a:bodyPr>
          <a:lstStyle/>
          <a:p>
            <a:pPr algn="ctr">
              <a:defRPr sz="1050" b="1">
                <a:solidFill>
                  <a:srgbClr val="0284C7"/>
                </a:solidFill>
                <a:latin typeface="Calibri"/>
              </a:defRPr>
            </a:pPr>
            <a:r>
              <a:t>Sustainable Development Goals:  SDG 16 (Peace &amp; Justice)  •  SDG 11 (Sustainable Cities)  •  SDG 9 (Innovation)</a:t>
            </a:r>
          </a:p>
        </p:txBody>
      </p:sp>
      <p:sp>
        <p:nvSpPr>
          <p:cNvPr id="5" name="TextBox 4"/>
          <p:cNvSpPr txBox="1"/>
          <p:nvPr/>
        </p:nvSpPr>
        <p:spPr>
          <a:xfrm>
            <a:off x="914400" y="3154680"/>
            <a:ext cx="4114800" cy="1371600"/>
          </a:xfrm>
          <a:prstGeom prst="rect">
            <a:avLst/>
          </a:prstGeom>
          <a:noFill/>
        </p:spPr>
        <p:txBody>
          <a:bodyPr wrap="none">
            <a:spAutoFit/>
          </a:bodyPr>
          <a:lstStyle/>
          <a:p>
            <a:pPr>
              <a:defRPr sz="1200" b="1">
                <a:solidFill>
                  <a:srgbClr val="CC0000"/>
                </a:solidFill>
                <a:latin typeface="Calibri"/>
              </a:defRPr>
            </a:pPr>
            <a:r>
              <a:t>TEAM MEMBERS (GROUP 3 — CSE-AI)</a:t>
            </a:r>
          </a:p>
          <a:p>
            <a:pPr>
              <a:defRPr sz="1200" b="1">
                <a:solidFill>
                  <a:srgbClr val="0F172A"/>
                </a:solidFill>
                <a:latin typeface="Calibri"/>
              </a:defRPr>
            </a:pPr>
            <a:r>
              <a:t>• Sam Sunny</a:t>
            </a:r>
          </a:p>
          <a:p>
            <a:pPr>
              <a:defRPr sz="1200" b="1">
                <a:solidFill>
                  <a:srgbClr val="0F172A"/>
                </a:solidFill>
                <a:latin typeface="Calibri"/>
              </a:defRPr>
            </a:pPr>
            <a:r>
              <a:t>• Samerath Kumar</a:t>
            </a:r>
          </a:p>
          <a:p>
            <a:pPr>
              <a:defRPr sz="1200" b="1">
                <a:solidFill>
                  <a:srgbClr val="0F172A"/>
                </a:solidFill>
                <a:latin typeface="Calibri"/>
              </a:defRPr>
            </a:pPr>
            <a:r>
              <a:t>• John Varghese Nettady</a:t>
            </a:r>
          </a:p>
          <a:p>
            <a:pPr>
              <a:defRPr sz="1200" b="1">
                <a:solidFill>
                  <a:srgbClr val="0F172A"/>
                </a:solidFill>
                <a:latin typeface="Calibri"/>
              </a:defRPr>
            </a:pPr>
            <a:r>
              <a:t>• Shannon George</a:t>
            </a:r>
          </a:p>
        </p:txBody>
      </p:sp>
      <p:sp>
        <p:nvSpPr>
          <p:cNvPr id="6" name="TextBox 5"/>
          <p:cNvSpPr txBox="1"/>
          <p:nvPr/>
        </p:nvSpPr>
        <p:spPr>
          <a:xfrm>
            <a:off x="5120640" y="3154680"/>
            <a:ext cx="3657600" cy="1371600"/>
          </a:xfrm>
          <a:prstGeom prst="rect">
            <a:avLst/>
          </a:prstGeom>
          <a:noFill/>
        </p:spPr>
        <p:txBody>
          <a:bodyPr wrap="none">
            <a:spAutoFit/>
          </a:bodyPr>
          <a:lstStyle/>
          <a:p>
            <a:pPr>
              <a:defRPr sz="1200" b="1">
                <a:solidFill>
                  <a:srgbClr val="CC0000"/>
                </a:solidFill>
                <a:latin typeface="Calibri"/>
              </a:defRPr>
            </a:pPr>
            <a:r>
              <a:t>PROJECT DETAILS</a:t>
            </a:r>
          </a:p>
          <a:p>
            <a:pPr>
              <a:defRPr sz="1150">
                <a:solidFill>
                  <a:srgbClr val="1E293B"/>
                </a:solidFill>
                <a:latin typeface="Calibri"/>
              </a:defRPr>
            </a:pPr>
            <a:r>
              <a:t>• Course: Data Mining (PECST525)</a:t>
            </a:r>
          </a:p>
          <a:p>
            <a:pPr>
              <a:defRPr sz="1150">
                <a:solidFill>
                  <a:srgbClr val="1E293B"/>
                </a:solidFill>
                <a:latin typeface="Calibri"/>
              </a:defRPr>
            </a:pPr>
            <a:r>
              <a:t>• Branch: B.Tech CSE (Artificial Intelligence)</a:t>
            </a:r>
          </a:p>
          <a:p>
            <a:pPr>
              <a:defRPr sz="1150">
                <a:solidFill>
                  <a:srgbClr val="1E293B"/>
                </a:solidFill>
                <a:latin typeface="Calibri"/>
              </a:defRPr>
            </a:pPr>
            <a:r>
              <a:t>• Target Region: Kochi &amp; Ernakulam (37 PS)</a:t>
            </a:r>
          </a:p>
          <a:p>
            <a:pPr>
              <a:defRPr sz="1150">
                <a:solidFill>
                  <a:srgbClr val="1E293B"/>
                </a:solidFill>
                <a:latin typeface="Calibri"/>
              </a:defRPr>
            </a:pPr>
            <a:r>
              <a:t>• Academic Year: 2026–2027</a:t>
            </a:r>
          </a:p>
        </p:txBody>
      </p:sp>
      <p:sp>
        <p:nvSpPr>
          <p:cNvPr id="7" name="Rectangle 6"/>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9" name="TextBox 8"/>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Contents &amp; Presentation Roadmap</a:t>
            </a:r>
          </a:p>
          <a:p>
            <a:pPr>
              <a:defRPr sz="1050" b="1">
                <a:solidFill>
                  <a:srgbClr val="CC0000"/>
                </a:solidFill>
                <a:latin typeface="Calibri"/>
              </a:defRPr>
            </a:pPr>
            <a:r>
              <a:t>AGENDA FOR PRESENTATION</a:t>
            </a:r>
          </a:p>
        </p:txBody>
      </p:sp>
      <p:sp>
        <p:nvSpPr>
          <p:cNvPr id="4" name="TextBox 3"/>
          <p:cNvSpPr txBox="1"/>
          <p:nvPr/>
        </p:nvSpPr>
        <p:spPr>
          <a:xfrm>
            <a:off x="731520" y="1115568"/>
            <a:ext cx="3931920" cy="3429000"/>
          </a:xfrm>
          <a:prstGeom prst="rect">
            <a:avLst/>
          </a:prstGeom>
          <a:noFill/>
        </p:spPr>
        <p:txBody>
          <a:bodyPr wrap="none">
            <a:spAutoFit/>
          </a:bodyPr>
          <a:lstStyle/>
          <a:p>
            <a:pPr>
              <a:spcAft>
                <a:spcPts val="400"/>
              </a:spcAft>
              <a:defRPr sz="1100" b="1">
                <a:solidFill>
                  <a:srgbClr val="0F172A"/>
                </a:solidFill>
                <a:latin typeface="Calibri"/>
              </a:defRPr>
            </a:pPr>
            <a:r>
              <a:t>01. Problem Statement &amp; Motivation</a:t>
            </a:r>
          </a:p>
          <a:p>
            <a:pPr>
              <a:spcAft>
                <a:spcPts val="400"/>
              </a:spcAft>
              <a:defRPr sz="1100" b="1">
                <a:solidFill>
                  <a:srgbClr val="0F172A"/>
                </a:solidFill>
                <a:latin typeface="Calibri"/>
              </a:defRPr>
            </a:pPr>
            <a:r>
              <a:t>02. Syllabus Course Outcomes (CO) Mapping</a:t>
            </a:r>
          </a:p>
          <a:p>
            <a:pPr>
              <a:spcAft>
                <a:spcPts val="400"/>
              </a:spcAft>
              <a:defRPr sz="1100" b="1">
                <a:solidFill>
                  <a:srgbClr val="0F172A"/>
                </a:solidFill>
                <a:latin typeface="Calibri"/>
              </a:defRPr>
            </a:pPr>
            <a:r>
              <a:t>03. UN Sustainable Development Goals (SDGs)</a:t>
            </a:r>
          </a:p>
          <a:p>
            <a:pPr>
              <a:spcAft>
                <a:spcPts val="400"/>
              </a:spcAft>
              <a:defRPr sz="1100" b="1">
                <a:solidFill>
                  <a:srgbClr val="0F172A"/>
                </a:solidFill>
                <a:latin typeface="Calibri"/>
              </a:defRPr>
            </a:pPr>
            <a:r>
              <a:t>04. Formal Engineering Objectives</a:t>
            </a:r>
          </a:p>
          <a:p>
            <a:pPr>
              <a:spcAft>
                <a:spcPts val="400"/>
              </a:spcAft>
              <a:defRPr sz="1100" b="1">
                <a:solidFill>
                  <a:srgbClr val="0F172A"/>
                </a:solidFill>
                <a:latin typeface="Calibri"/>
              </a:defRPr>
            </a:pPr>
            <a:r>
              <a:t>05. End-to-End Processing Workflow</a:t>
            </a:r>
          </a:p>
          <a:p>
            <a:pPr>
              <a:spcAft>
                <a:spcPts val="400"/>
              </a:spcAft>
              <a:defRPr sz="1100" b="1">
                <a:solidFill>
                  <a:srgbClr val="0F172A"/>
                </a:solidFill>
                <a:latin typeface="Calibri"/>
              </a:defRPr>
            </a:pPr>
            <a:r>
              <a:t>06. Step 1: Data Extraction &amp; Harvesting</a:t>
            </a:r>
          </a:p>
          <a:p>
            <a:pPr>
              <a:spcAft>
                <a:spcPts val="400"/>
              </a:spcAft>
              <a:defRPr sz="1100" b="1">
                <a:solidFill>
                  <a:srgbClr val="0F172A"/>
                </a:solidFill>
                <a:latin typeface="Calibri"/>
              </a:defRPr>
            </a:pPr>
            <a:r>
              <a:t>07. Step 2: Cleaning, Normalization &amp; Taxonomy</a:t>
            </a:r>
          </a:p>
          <a:p>
            <a:pPr>
              <a:spcAft>
                <a:spcPts val="400"/>
              </a:spcAft>
              <a:defRPr sz="1100" b="1">
                <a:solidFill>
                  <a:srgbClr val="0F172A"/>
                </a:solidFill>
                <a:latin typeface="Calibri"/>
              </a:defRPr>
            </a:pPr>
            <a:r>
              <a:t>08. Step 3A: Fact Table Schema &amp; Storage</a:t>
            </a:r>
          </a:p>
          <a:p>
            <a:pPr>
              <a:spcAft>
                <a:spcPts val="400"/>
              </a:spcAft>
              <a:defRPr sz="1100" b="1">
                <a:solidFill>
                  <a:srgbClr val="0F172A"/>
                </a:solidFill>
                <a:latin typeface="Calibri"/>
              </a:defRPr>
            </a:pPr>
            <a:r>
              <a:t>09. Step 3B: OLAP Operations &amp; Data Cubes</a:t>
            </a:r>
          </a:p>
        </p:txBody>
      </p:sp>
      <p:sp>
        <p:nvSpPr>
          <p:cNvPr id="5" name="TextBox 4"/>
          <p:cNvSpPr txBox="1"/>
          <p:nvPr/>
        </p:nvSpPr>
        <p:spPr>
          <a:xfrm>
            <a:off x="4846320" y="1115568"/>
            <a:ext cx="4023360" cy="3429000"/>
          </a:xfrm>
          <a:prstGeom prst="rect">
            <a:avLst/>
          </a:prstGeom>
          <a:noFill/>
        </p:spPr>
        <p:txBody>
          <a:bodyPr wrap="none">
            <a:spAutoFit/>
          </a:bodyPr>
          <a:lstStyle/>
          <a:p>
            <a:pPr>
              <a:spcAft>
                <a:spcPts val="400"/>
              </a:spcAft>
              <a:defRPr sz="1100" b="1">
                <a:solidFill>
                  <a:srgbClr val="0F172A"/>
                </a:solidFill>
                <a:latin typeface="Calibri"/>
              </a:defRPr>
            </a:pPr>
            <a:r>
              <a:t>10. Step 4A: Feature Engineering &amp; Predictors</a:t>
            </a:r>
          </a:p>
          <a:p>
            <a:pPr>
              <a:spcAft>
                <a:spcPts val="400"/>
              </a:spcAft>
              <a:defRPr sz="1100" b="1">
                <a:solidFill>
                  <a:srgbClr val="0F172A"/>
                </a:solidFill>
                <a:latin typeface="Calibri"/>
              </a:defRPr>
            </a:pPr>
            <a:r>
              <a:t>11. Step 4B: Supervised CART Decision Tree</a:t>
            </a:r>
          </a:p>
          <a:p>
            <a:pPr>
              <a:spcAft>
                <a:spcPts val="400"/>
              </a:spcAft>
              <a:defRPr sz="1100" b="1">
                <a:solidFill>
                  <a:srgbClr val="0F172A"/>
                </a:solidFill>
                <a:latin typeface="Calibri"/>
              </a:defRPr>
            </a:pPr>
            <a:r>
              <a:t>12. Step 4C: Crime Spree &amp; Staffing Simulator</a:t>
            </a:r>
          </a:p>
          <a:p>
            <a:pPr>
              <a:spcAft>
                <a:spcPts val="400"/>
              </a:spcAft>
              <a:defRPr sz="1100" b="1">
                <a:solidFill>
                  <a:srgbClr val="0F172A"/>
                </a:solidFill>
                <a:latin typeface="Calibri"/>
              </a:defRPr>
            </a:pPr>
            <a:r>
              <a:t>13. Step 4D: Model Evaluation &amp; Confusion Matrix</a:t>
            </a:r>
          </a:p>
          <a:p>
            <a:pPr>
              <a:spcAft>
                <a:spcPts val="400"/>
              </a:spcAft>
              <a:defRPr sz="1100" b="1">
                <a:solidFill>
                  <a:srgbClr val="0F172A"/>
                </a:solidFill>
                <a:latin typeface="Calibri"/>
              </a:defRPr>
            </a:pPr>
            <a:r>
              <a:t>14. Operational Findings &amp; Policy Impact</a:t>
            </a:r>
          </a:p>
          <a:p>
            <a:pPr>
              <a:spcAft>
                <a:spcPts val="400"/>
              </a:spcAft>
              <a:defRPr sz="1100" b="1">
                <a:solidFill>
                  <a:srgbClr val="0F172A"/>
                </a:solidFill>
                <a:latin typeface="Calibri"/>
              </a:defRPr>
            </a:pPr>
            <a:r>
              <a:t>15. Step 5: Live Geospatial Interface</a:t>
            </a:r>
          </a:p>
          <a:p>
            <a:pPr>
              <a:spcAft>
                <a:spcPts val="400"/>
              </a:spcAft>
              <a:defRPr sz="1100" b="1">
                <a:solidFill>
                  <a:srgbClr val="0F172A"/>
                </a:solidFill>
                <a:latin typeface="Calibri"/>
              </a:defRPr>
            </a:pPr>
            <a:r>
              <a:t>16. Technology Stack &amp; Justifications</a:t>
            </a:r>
          </a:p>
          <a:p>
            <a:pPr>
              <a:spcAft>
                <a:spcPts val="400"/>
              </a:spcAft>
              <a:defRPr sz="1100" b="1">
                <a:solidFill>
                  <a:srgbClr val="0F172A"/>
                </a:solidFill>
                <a:latin typeface="Calibri"/>
              </a:defRPr>
            </a:pPr>
            <a:r>
              <a:t>17. Conclusion &amp; Future Scope</a:t>
            </a:r>
          </a:p>
          <a:p>
            <a:pPr>
              <a:spcAft>
                <a:spcPts val="400"/>
              </a:spcAft>
              <a:defRPr sz="1100" b="1">
                <a:solidFill>
                  <a:srgbClr val="0F172A"/>
                </a:solidFill>
                <a:latin typeface="Calibri"/>
              </a:defRPr>
            </a:pPr>
            <a:r>
              <a:t>18. Academic &amp; Official References</a:t>
            </a:r>
          </a:p>
        </p:txBody>
      </p:sp>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Problem Statement</a:t>
            </a:r>
          </a:p>
          <a:p>
            <a:pPr>
              <a:defRPr sz="1050" b="1">
                <a:solidFill>
                  <a:srgbClr val="CC0000"/>
                </a:solidFill>
                <a:latin typeface="Calibri"/>
              </a:defRPr>
            </a:pPr>
            <a:r>
              <a:t>DATA MINING MOTIVATION &amp; PUBLIC SAFETY GOAL</a:t>
            </a:r>
          </a:p>
        </p:txBody>
      </p:sp>
      <p:sp>
        <p:nvSpPr>
          <p:cNvPr id="4" name="TextBox 3"/>
          <p:cNvSpPr txBox="1"/>
          <p:nvPr/>
        </p:nvSpPr>
        <p:spPr>
          <a:xfrm>
            <a:off x="731520" y="1143000"/>
            <a:ext cx="7680960" cy="3291840"/>
          </a:xfrm>
          <a:prstGeom prst="rect">
            <a:avLst/>
          </a:prstGeom>
          <a:noFill/>
        </p:spPr>
        <p:txBody>
          <a:bodyPr wrap="square">
            <a:spAutoFit/>
          </a:bodyPr>
          <a:lstStyle/>
          <a:p>
            <a:pPr>
              <a:lnSpc>
                <a:spcPct val="125000"/>
              </a:lnSpc>
              <a:defRPr sz="1350">
                <a:solidFill>
                  <a:srgbClr val="1E293B"/>
                </a:solidFill>
                <a:latin typeface="Calibri"/>
              </a:defRPr>
            </a:pPr>
            <a:r>
              <a:t>“Crime hotspot prediction aims to develop a data mining system that analyzes historical crime records, including the type of crime, location, date, and time, to identify patterns and predict areas where crimes are most likely to occur in the future.</a:t>
            </a:r>
            <a:br/>
            <a:br/>
            <a:r>
              <a:t>By detecting high-risk locations and time periods, the system helps law enforcement agencies allocate resources efficiently, plan preventive patrols, and take proactive measures to reduce crime, ultimately improving public safety through data-driven decision-making.”</a:t>
            </a:r>
          </a:p>
          <a:p>
            <a:pPr>
              <a:spcBef>
                <a:spcPts val="1200"/>
              </a:spcBef>
              <a:defRPr sz="1350" b="1">
                <a:solidFill>
                  <a:srgbClr val="CC0000"/>
                </a:solidFill>
                <a:latin typeface="Calibri"/>
              </a:defRPr>
            </a:pPr>
            <a:r>
              <a:t>Key Operational Challenges Addressed:</a:t>
            </a:r>
          </a:p>
          <a:p>
            <a:pPr>
              <a:spcBef>
                <a:spcPts val="300"/>
              </a:spcBef>
              <a:defRPr sz="1200">
                <a:solidFill>
                  <a:srgbClr val="0F172A"/>
                </a:solidFill>
                <a:latin typeface="Calibri"/>
              </a:defRPr>
            </a:pPr>
            <a:r>
              <a:t>• Unstructured Portal Data: Police records are siloed in unstructured state portal tables without spatial geocoding.</a:t>
            </a:r>
          </a:p>
          <a:p>
            <a:pPr>
              <a:spcBef>
                <a:spcPts val="300"/>
              </a:spcBef>
              <a:defRPr sz="1200">
                <a:solidFill>
                  <a:srgbClr val="0F172A"/>
                </a:solidFill>
                <a:latin typeface="Calibri"/>
              </a:defRPr>
            </a:pPr>
            <a:r>
              <a:t>• Explainability Imperative: Police officers need transparent, legally auditable if-then rules, not opaque black-boxes.</a:t>
            </a:r>
          </a:p>
          <a:p>
            <a:pPr>
              <a:spcBef>
                <a:spcPts val="300"/>
              </a:spcBef>
              <a:defRPr sz="1200">
                <a:solidFill>
                  <a:srgbClr val="0F172A"/>
                </a:solidFill>
                <a:latin typeface="Calibri"/>
              </a:defRPr>
            </a:pPr>
            <a:r>
              <a:t>• Staffing &amp; Crime Surge Vulnerability: High-volume stations risk operational breakdown when sudden crime sprees occur without reserve mobilization.</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Course Outcomes (CO) Mapping</a:t>
            </a:r>
          </a:p>
          <a:p>
            <a:pPr>
              <a:defRPr sz="1050" b="1">
                <a:solidFill>
                  <a:srgbClr val="CC0000"/>
                </a:solidFill>
                <a:latin typeface="Calibri"/>
              </a:defRPr>
            </a:pPr>
            <a:r>
              <a:t>ALIGNMENT WITH KTU S5 DATA MINING SYLLABUS (PECST525)</a:t>
            </a:r>
          </a:p>
        </p:txBody>
      </p:sp>
      <p:graphicFrame>
        <p:nvGraphicFramePr>
          <p:cNvPr id="4" name="Table 3"/>
          <p:cNvGraphicFramePr>
            <a:graphicFrameLocks noGrp="1"/>
          </p:cNvGraphicFramePr>
          <p:nvPr/>
        </p:nvGraphicFramePr>
        <p:xfrm>
          <a:off x="548640" y="1097280"/>
          <a:ext cx="8046720" cy="3383280"/>
        </p:xfrm>
        <a:graphic>
          <a:graphicData uri="http://schemas.openxmlformats.org/drawingml/2006/table">
            <a:tbl>
              <a:tblPr firstRow="1" bandRow="1">
                <a:tableStyleId>{5C22544A-7EE6-4342-B048-85BDC9FD1C3A}</a:tableStyleId>
              </a:tblPr>
              <a:tblGrid>
                <a:gridCol w="914400"/>
                <a:gridCol w="2926080"/>
                <a:gridCol w="731520"/>
                <a:gridCol w="3474720"/>
              </a:tblGrid>
              <a:tr h="563880">
                <a:tc>
                  <a:txBody>
                    <a:bodyPr/>
                    <a:lstStyle/>
                    <a:p>
                      <a:pPr>
                        <a:defRPr b="1" sz="1000">
                          <a:solidFill>
                            <a:srgbClr val="FFFFFF"/>
                          </a:solidFill>
                          <a:latin typeface="Calibri"/>
                        </a:defRPr>
                      </a:pPr>
                      <a:r>
                        <a:t>CO Code</a:t>
                      </a:r>
                    </a:p>
                  </a:txBody>
                  <a:tcPr>
                    <a:solidFill>
                      <a:srgbClr val="0F172A"/>
                    </a:solidFill>
                  </a:tcPr>
                </a:tc>
                <a:tc>
                  <a:txBody>
                    <a:bodyPr/>
                    <a:lstStyle/>
                    <a:p>
                      <a:pPr>
                        <a:defRPr b="1" sz="1000">
                          <a:solidFill>
                            <a:srgbClr val="FFFFFF"/>
                          </a:solidFill>
                          <a:latin typeface="Calibri"/>
                        </a:defRPr>
                      </a:pPr>
                      <a:r>
                        <a:t>Course Outcome Description (Syllabus)</a:t>
                      </a:r>
                    </a:p>
                  </a:txBody>
                  <a:tcPr>
                    <a:solidFill>
                      <a:srgbClr val="0F172A"/>
                    </a:solidFill>
                  </a:tcPr>
                </a:tc>
                <a:tc>
                  <a:txBody>
                    <a:bodyPr/>
                    <a:lstStyle/>
                    <a:p>
                      <a:pPr>
                        <a:defRPr b="1" sz="1000">
                          <a:solidFill>
                            <a:srgbClr val="FFFFFF"/>
                          </a:solidFill>
                          <a:latin typeface="Calibri"/>
                        </a:defRPr>
                      </a:pPr>
                      <a:r>
                        <a:t>Level</a:t>
                      </a:r>
                    </a:p>
                  </a:txBody>
                  <a:tcPr>
                    <a:solidFill>
                      <a:srgbClr val="0F172A"/>
                    </a:solidFill>
                  </a:tcPr>
                </a:tc>
                <a:tc>
                  <a:txBody>
                    <a:bodyPr/>
                    <a:lstStyle/>
                    <a:p>
                      <a:pPr>
                        <a:defRPr b="1" sz="1000">
                          <a:solidFill>
                            <a:srgbClr val="FFFFFF"/>
                          </a:solidFill>
                          <a:latin typeface="Calibri"/>
                        </a:defRPr>
                      </a:pPr>
                      <a:r>
                        <a:t>DATAMI Project Implementation &amp; Fulfillment</a:t>
                      </a:r>
                    </a:p>
                  </a:txBody>
                  <a:tcPr>
                    <a:solidFill>
                      <a:srgbClr val="0F172A"/>
                    </a:solidFill>
                  </a:tcPr>
                </a:tc>
              </a:tr>
              <a:tr h="563880">
                <a:tc>
                  <a:txBody>
                    <a:bodyPr/>
                    <a:lstStyle/>
                    <a:p>
                      <a:pPr>
                        <a:defRPr sz="850" b="1">
                          <a:solidFill>
                            <a:srgbClr val="CC0000"/>
                          </a:solidFill>
                          <a:latin typeface="Calibri"/>
                        </a:defRPr>
                      </a:pPr>
                      <a:r>
                        <a:t>CO1</a:t>
                      </a:r>
                    </a:p>
                  </a:txBody>
                  <a:tcPr>
                    <a:solidFill>
                      <a:srgbClr val="F8FAFC"/>
                    </a:solidFill>
                  </a:tcPr>
                </a:tc>
                <a:tc>
                  <a:txBody>
                    <a:bodyPr/>
                    <a:lstStyle/>
                    <a:p>
                      <a:pPr>
                        <a:defRPr sz="850">
                          <a:solidFill>
                            <a:srgbClr val="1E293B"/>
                          </a:solidFill>
                          <a:latin typeface="Calibri"/>
                        </a:defRPr>
                      </a:pPr>
                      <a:r>
                        <a:t>Understand the key processes of data mining and data warehousing concepts in application domains.</a:t>
                      </a:r>
                    </a:p>
                  </a:txBody>
                  <a:tcPr>
                    <a:solidFill>
                      <a:srgbClr val="F8FAFC"/>
                    </a:solidFill>
                  </a:tcPr>
                </a:tc>
                <a:tc>
                  <a:txBody>
                    <a:bodyPr/>
                    <a:lstStyle/>
                    <a:p>
                      <a:pPr>
                        <a:defRPr sz="850" b="1">
                          <a:solidFill>
                            <a:srgbClr val="0284C7"/>
                          </a:solidFill>
                          <a:latin typeface="Calibri"/>
                        </a:defRPr>
                      </a:pPr>
                      <a:r>
                        <a:t>K2</a:t>
                      </a:r>
                    </a:p>
                  </a:txBody>
                  <a:tcPr>
                    <a:solidFill>
                      <a:srgbClr val="F8FAFC"/>
                    </a:solidFill>
                  </a:tcPr>
                </a:tc>
                <a:tc>
                  <a:txBody>
                    <a:bodyPr/>
                    <a:lstStyle/>
                    <a:p>
                      <a:pPr>
                        <a:defRPr sz="850">
                          <a:solidFill>
                            <a:srgbClr val="1E293B"/>
                          </a:solidFill>
                          <a:latin typeface="Calibri"/>
                        </a:defRPr>
                      </a:pPr>
                      <a:r>
                        <a:t>Step 1 &amp; Step 3: Ingests raw state portal tables into a multidimensional SQLite warehouse (crime_records) and executes OLAP roll-ups across 37 stations.</a:t>
                      </a:r>
                    </a:p>
                  </a:txBody>
                  <a:tcPr>
                    <a:solidFill>
                      <a:srgbClr val="F8FAFC"/>
                    </a:solidFill>
                  </a:tcPr>
                </a:tc>
              </a:tr>
              <a:tr h="563880">
                <a:tc>
                  <a:txBody>
                    <a:bodyPr/>
                    <a:lstStyle/>
                    <a:p>
                      <a:pPr>
                        <a:defRPr sz="850" b="1">
                          <a:solidFill>
                            <a:srgbClr val="CC0000"/>
                          </a:solidFill>
                          <a:latin typeface="Calibri"/>
                        </a:defRPr>
                      </a:pPr>
                      <a:r>
                        <a:t>CO2</a:t>
                      </a:r>
                    </a:p>
                  </a:txBody>
                  <a:tcPr>
                    <a:solidFill>
                      <a:srgbClr val="FFFFFF"/>
                    </a:solidFill>
                  </a:tcPr>
                </a:tc>
                <a:tc>
                  <a:txBody>
                    <a:bodyPr/>
                    <a:lstStyle/>
                    <a:p>
                      <a:pPr>
                        <a:defRPr sz="850">
                          <a:solidFill>
                            <a:srgbClr val="1E293B"/>
                          </a:solidFill>
                          <a:latin typeface="Calibri"/>
                        </a:defRPr>
                      </a:pPr>
                      <a:r>
                        <a:t>Apply appropriate pre-processing techniques to convert raw data into suitable format for data mining.</a:t>
                      </a:r>
                    </a:p>
                  </a:txBody>
                  <a:tcPr>
                    <a:solidFill>
                      <a:srgbClr val="FFFFFF"/>
                    </a:solidFill>
                  </a:tcPr>
                </a:tc>
                <a:tc>
                  <a:txBody>
                    <a:bodyPr/>
                    <a:lstStyle/>
                    <a:p>
                      <a:pPr>
                        <a:defRPr sz="850" b="1">
                          <a:solidFill>
                            <a:srgbClr val="0284C7"/>
                          </a:solidFill>
                          <a:latin typeface="Calibri"/>
                        </a:defRPr>
                      </a:pPr>
                      <a:r>
                        <a:t>K3</a:t>
                      </a:r>
                    </a:p>
                  </a:txBody>
                  <a:tcPr>
                    <a:solidFill>
                      <a:srgbClr val="FFFFFF"/>
                    </a:solidFill>
                  </a:tcPr>
                </a:tc>
                <a:tc>
                  <a:txBody>
                    <a:bodyPr/>
                    <a:lstStyle/>
                    <a:p>
                      <a:pPr>
                        <a:defRPr sz="850">
                          <a:solidFill>
                            <a:srgbClr val="1E293B"/>
                          </a:solidFill>
                          <a:latin typeface="Calibri"/>
                        </a:defRPr>
                      </a:pPr>
                      <a:r>
                        <a:t>Step 2: Enforces strict zero-count vs NULL policy, harmonizes station slugs, and builds 3-tier spatial and IPC/SLL legal concept hierarchies.</a:t>
                      </a:r>
                    </a:p>
                  </a:txBody>
                  <a:tcPr>
                    <a:solidFill>
                      <a:srgbClr val="FFFFFF"/>
                    </a:solidFill>
                  </a:tcPr>
                </a:tc>
              </a:tr>
              <a:tr h="563880">
                <a:tc>
                  <a:txBody>
                    <a:bodyPr/>
                    <a:lstStyle/>
                    <a:p>
                      <a:pPr>
                        <a:defRPr sz="850" b="1">
                          <a:solidFill>
                            <a:srgbClr val="CC0000"/>
                          </a:solidFill>
                          <a:latin typeface="Calibri"/>
                        </a:defRPr>
                      </a:pPr>
                      <a:r>
                        <a:t>CO3</a:t>
                      </a:r>
                    </a:p>
                  </a:txBody>
                  <a:tcPr>
                    <a:solidFill>
                      <a:srgbClr val="F8FAFC"/>
                    </a:solidFill>
                  </a:tcPr>
                </a:tc>
                <a:tc>
                  <a:txBody>
                    <a:bodyPr/>
                    <a:lstStyle/>
                    <a:p>
                      <a:pPr>
                        <a:defRPr sz="850">
                          <a:solidFill>
                            <a:srgbClr val="1E293B"/>
                          </a:solidFill>
                          <a:latin typeface="Calibri"/>
                        </a:defRPr>
                      </a:pPr>
                      <a:r>
                        <a:t>Illustrate the use of classification and clustering algorithms in various application domains.</a:t>
                      </a:r>
                    </a:p>
                  </a:txBody>
                  <a:tcPr>
                    <a:solidFill>
                      <a:srgbClr val="F8FAFC"/>
                    </a:solidFill>
                  </a:tcPr>
                </a:tc>
                <a:tc>
                  <a:txBody>
                    <a:bodyPr/>
                    <a:lstStyle/>
                    <a:p>
                      <a:pPr>
                        <a:defRPr sz="850" b="1">
                          <a:solidFill>
                            <a:srgbClr val="0284C7"/>
                          </a:solidFill>
                          <a:latin typeface="Calibri"/>
                        </a:defRPr>
                      </a:pPr>
                      <a:r>
                        <a:t>K3</a:t>
                      </a:r>
                    </a:p>
                  </a:txBody>
                  <a:tcPr>
                    <a:solidFill>
                      <a:srgbClr val="F8FAFC"/>
                    </a:solidFill>
                  </a:tcPr>
                </a:tc>
                <a:tc>
                  <a:txBody>
                    <a:bodyPr/>
                    <a:lstStyle/>
                    <a:p>
                      <a:pPr>
                        <a:defRPr sz="850">
                          <a:solidFill>
                            <a:srgbClr val="1E293B"/>
                          </a:solidFill>
                          <a:latin typeface="Calibri"/>
                        </a:defRPr>
                      </a:pPr>
                      <a:r>
                        <a:t>Step 4B: Induces an explainable CART Decision Tree (Gini Impurity, depth 3) to predict station risk, outperforming Zero-R &amp; persistence baselines.</a:t>
                      </a:r>
                    </a:p>
                  </a:txBody>
                  <a:tcPr>
                    <a:solidFill>
                      <a:srgbClr val="F8FAFC"/>
                    </a:solidFill>
                  </a:tcPr>
                </a:tc>
              </a:tr>
              <a:tr h="563880">
                <a:tc>
                  <a:txBody>
                    <a:bodyPr/>
                    <a:lstStyle/>
                    <a:p>
                      <a:pPr>
                        <a:defRPr sz="850" b="1">
                          <a:solidFill>
                            <a:srgbClr val="CC0000"/>
                          </a:solidFill>
                          <a:latin typeface="Calibri"/>
                        </a:defRPr>
                      </a:pPr>
                      <a:r>
                        <a:t>CO4</a:t>
                      </a:r>
                    </a:p>
                  </a:txBody>
                  <a:tcPr>
                    <a:solidFill>
                      <a:srgbClr val="FFFFFF"/>
                    </a:solidFill>
                  </a:tcPr>
                </a:tc>
                <a:tc>
                  <a:txBody>
                    <a:bodyPr/>
                    <a:lstStyle/>
                    <a:p>
                      <a:pPr>
                        <a:defRPr sz="850">
                          <a:solidFill>
                            <a:srgbClr val="1E293B"/>
                          </a:solidFill>
                          <a:latin typeface="Calibri"/>
                        </a:defRPr>
                      </a:pPr>
                      <a:r>
                        <a:t>Comprehend the use of association rule mining techniques.</a:t>
                      </a:r>
                    </a:p>
                  </a:txBody>
                  <a:tcPr>
                    <a:solidFill>
                      <a:srgbClr val="FFFFFF"/>
                    </a:solidFill>
                  </a:tcPr>
                </a:tc>
                <a:tc>
                  <a:txBody>
                    <a:bodyPr/>
                    <a:lstStyle/>
                    <a:p>
                      <a:pPr>
                        <a:defRPr sz="850" b="1">
                          <a:solidFill>
                            <a:srgbClr val="0284C7"/>
                          </a:solidFill>
                          <a:latin typeface="Calibri"/>
                        </a:defRPr>
                      </a:pPr>
                      <a:r>
                        <a:t>K3</a:t>
                      </a:r>
                    </a:p>
                  </a:txBody>
                  <a:tcPr>
                    <a:solidFill>
                      <a:srgbClr val="FFFFFF"/>
                    </a:solidFill>
                  </a:tcPr>
                </a:tc>
                <a:tc>
                  <a:txBody>
                    <a:bodyPr/>
                    <a:lstStyle/>
                    <a:p>
                      <a:pPr>
                        <a:defRPr sz="850">
                          <a:solidFill>
                            <a:srgbClr val="1E293B"/>
                          </a:solidFill>
                          <a:latin typeface="Calibri"/>
                        </a:defRPr>
                      </a:pPr>
                      <a:r>
                        <a:t>Step 4A: Analyzes co-occurrence of vice offenses and evaluates cross-feature lagged momentum dependencies between offense categories.</a:t>
                      </a:r>
                    </a:p>
                  </a:txBody>
                  <a:tcPr>
                    <a:solidFill>
                      <a:srgbClr val="FFFFFF"/>
                    </a:solidFill>
                  </a:tcPr>
                </a:tc>
              </a:tr>
              <a:tr h="563880">
                <a:tc>
                  <a:txBody>
                    <a:bodyPr/>
                    <a:lstStyle/>
                    <a:p>
                      <a:pPr>
                        <a:defRPr sz="850" b="1">
                          <a:solidFill>
                            <a:srgbClr val="CC0000"/>
                          </a:solidFill>
                          <a:latin typeface="Calibri"/>
                        </a:defRPr>
                      </a:pPr>
                      <a:r>
                        <a:t>CO5</a:t>
                      </a:r>
                    </a:p>
                  </a:txBody>
                  <a:tcPr>
                    <a:solidFill>
                      <a:srgbClr val="F8FAFC"/>
                    </a:solidFill>
                  </a:tcPr>
                </a:tc>
                <a:tc>
                  <a:txBody>
                    <a:bodyPr/>
                    <a:lstStyle/>
                    <a:p>
                      <a:pPr>
                        <a:defRPr sz="850">
                          <a:solidFill>
                            <a:srgbClr val="1E293B"/>
                          </a:solidFill>
                          <a:latin typeface="Calibri"/>
                        </a:defRPr>
                      </a:pPr>
                      <a:r>
                        <a:t>Explain advanced data mining concepts and their applications in emerging domains.</a:t>
                      </a:r>
                    </a:p>
                  </a:txBody>
                  <a:tcPr>
                    <a:solidFill>
                      <a:srgbClr val="F8FAFC"/>
                    </a:solidFill>
                  </a:tcPr>
                </a:tc>
                <a:tc>
                  <a:txBody>
                    <a:bodyPr/>
                    <a:lstStyle/>
                    <a:p>
                      <a:pPr>
                        <a:defRPr sz="850" b="1">
                          <a:solidFill>
                            <a:srgbClr val="0284C7"/>
                          </a:solidFill>
                          <a:latin typeface="Calibri"/>
                        </a:defRPr>
                      </a:pPr>
                      <a:r>
                        <a:t>K2</a:t>
                      </a:r>
                    </a:p>
                  </a:txBody>
                  <a:tcPr>
                    <a:solidFill>
                      <a:srgbClr val="F8FAFC"/>
                    </a:solidFill>
                  </a:tcPr>
                </a:tc>
                <a:tc>
                  <a:txBody>
                    <a:bodyPr/>
                    <a:lstStyle/>
                    <a:p>
                      <a:pPr>
                        <a:defRPr sz="850">
                          <a:solidFill>
                            <a:srgbClr val="1E293B"/>
                          </a:solidFill>
                          <a:latin typeface="Calibri"/>
                        </a:defRPr>
                      </a:pPr>
                      <a:r>
                        <a:t>Step 1 &amp; Step 5: Web Content Mining from state police portals, operational crime spree simulation, and interactive Leaflet geospatial cartography.</a:t>
                      </a:r>
                    </a:p>
                  </a:txBody>
                  <a:tcPr>
                    <a:solidFill>
                      <a:srgbClr val="F8FAFC"/>
                    </a:solidFill>
                  </a:tcPr>
                </a:tc>
              </a:tr>
            </a:tbl>
          </a:graphicData>
        </a:graphic>
      </p:graphicFrame>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Alignment with Sustainable Development Goals</a:t>
            </a:r>
          </a:p>
          <a:p>
            <a:pPr>
              <a:defRPr sz="1050" b="1">
                <a:solidFill>
                  <a:srgbClr val="CC0000"/>
                </a:solidFill>
                <a:latin typeface="Calibri"/>
              </a:defRPr>
            </a:pPr>
            <a:r>
              <a:t>UNITED NATIONS 2030 AGENDA — SDG 16, SDG 11 &amp; SDG 9</a:t>
            </a:r>
          </a:p>
        </p:txBody>
      </p:sp>
      <p:sp>
        <p:nvSpPr>
          <p:cNvPr id="4" name="TextBox 3"/>
          <p:cNvSpPr txBox="1"/>
          <p:nvPr/>
        </p:nvSpPr>
        <p:spPr>
          <a:xfrm>
            <a:off x="731520" y="1143000"/>
            <a:ext cx="7680960" cy="3291840"/>
          </a:xfrm>
          <a:prstGeom prst="rect">
            <a:avLst/>
          </a:prstGeom>
          <a:noFill/>
        </p:spPr>
        <p:txBody>
          <a:bodyPr wrap="square">
            <a:spAutoFit/>
          </a:bodyPr>
          <a:lstStyle/>
          <a:p>
            <a:pPr>
              <a:spcBef>
                <a:spcPts val="0"/>
              </a:spcBef>
              <a:defRPr sz="1400" b="1">
                <a:solidFill>
                  <a:srgbClr val="0284C7"/>
                </a:solidFill>
                <a:latin typeface="Calibri"/>
              </a:defRPr>
            </a:pPr>
            <a:r>
              <a:t>SDG 16: Peace, Justice &amp; Strong Institutions</a:t>
            </a:r>
          </a:p>
          <a:p>
            <a:pPr>
              <a:spcBef>
                <a:spcPts val="300"/>
              </a:spcBef>
              <a:defRPr sz="1250">
                <a:solidFill>
                  <a:srgbClr val="1E293B"/>
                </a:solidFill>
                <a:latin typeface="Calibri"/>
              </a:defRPr>
            </a:pPr>
            <a:r>
              <a:t>Empowers police leadership with transparent, legally auditable decision tree rules to deploy preventive patrols and proactively de-escalate violence across 37 police jurisdictions.</a:t>
            </a:r>
          </a:p>
          <a:p>
            <a:pPr>
              <a:spcBef>
                <a:spcPts val="1200"/>
              </a:spcBef>
              <a:defRPr sz="1400" b="1">
                <a:solidFill>
                  <a:srgbClr val="D97706"/>
                </a:solidFill>
                <a:latin typeface="Calibri"/>
              </a:defRPr>
            </a:pPr>
            <a:r>
              <a:t>SDG 11: Sustainable Cities &amp; Communities</a:t>
            </a:r>
          </a:p>
          <a:p>
            <a:pPr>
              <a:spcBef>
                <a:spcPts val="300"/>
              </a:spcBef>
              <a:defRPr sz="1250">
                <a:solidFill>
                  <a:srgbClr val="1E293B"/>
                </a:solidFill>
                <a:latin typeface="Calibri"/>
              </a:defRPr>
            </a:pPr>
            <a:r>
              <a:t>Delivers interactive geospatial cartography and crime surge stress-testing to safeguard Kochi's commercial hubs, transit corridors, and public urban spaces.</a:t>
            </a:r>
          </a:p>
          <a:p>
            <a:pPr>
              <a:spcBef>
                <a:spcPts val="1200"/>
              </a:spcBef>
              <a:defRPr sz="1400" b="1">
                <a:solidFill>
                  <a:srgbClr val="059669"/>
                </a:solidFill>
                <a:latin typeface="Calibri"/>
              </a:defRPr>
            </a:pPr>
            <a:r>
              <a:t>SDG 9: Industry, Innovation &amp; Infrastructure</a:t>
            </a:r>
          </a:p>
          <a:p>
            <a:pPr>
              <a:spcBef>
                <a:spcPts val="300"/>
              </a:spcBef>
              <a:defRPr sz="1250">
                <a:solidFill>
                  <a:srgbClr val="1E293B"/>
                </a:solidFill>
                <a:latin typeface="Calibri"/>
              </a:defRPr>
            </a:pPr>
            <a:r>
              <a:t>Modernizes municipal public safety infrastructure by deploying lightweight, open-source data mining technologies rather than expensive proprietary surveillance suites.</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Project Objectives</a:t>
            </a:r>
          </a:p>
          <a:p>
            <a:pPr>
              <a:defRPr sz="1050" b="1">
                <a:solidFill>
                  <a:srgbClr val="CC0000"/>
                </a:solidFill>
                <a:latin typeface="Calibri"/>
              </a:defRPr>
            </a:pPr>
            <a:r>
              <a:t>FORMAL ENGINEERING GOALS</a:t>
            </a:r>
          </a:p>
        </p:txBody>
      </p:sp>
      <p:sp>
        <p:nvSpPr>
          <p:cNvPr id="4" name="TextBox 3"/>
          <p:cNvSpPr txBox="1"/>
          <p:nvPr/>
        </p:nvSpPr>
        <p:spPr>
          <a:xfrm>
            <a:off x="731520" y="1143000"/>
            <a:ext cx="7680960" cy="3291840"/>
          </a:xfrm>
          <a:prstGeom prst="rect">
            <a:avLst/>
          </a:prstGeom>
          <a:noFill/>
        </p:spPr>
        <p:txBody>
          <a:bodyPr wrap="square">
            <a:spAutoFit/>
          </a:bodyPr>
          <a:lstStyle/>
          <a:p>
            <a:pPr>
              <a:spcBef>
                <a:spcPts val="0"/>
              </a:spcBef>
              <a:defRPr sz="1350" b="1">
                <a:solidFill>
                  <a:srgbClr val="CC0000"/>
                </a:solidFill>
                <a:latin typeface="Calibri"/>
              </a:defRPr>
            </a:pPr>
            <a:r>
              <a:t>1. Data Harvesting &amp; Relational Warehousing</a:t>
            </a:r>
          </a:p>
          <a:p>
            <a:pPr>
              <a:spcBef>
                <a:spcPts val="200"/>
              </a:spcBef>
              <a:defRPr sz="1150">
                <a:solidFill>
                  <a:srgbClr val="1E293B"/>
                </a:solidFill>
                <a:latin typeface="Calibri"/>
              </a:defRPr>
            </a:pPr>
            <a:r>
              <a:t>Acquire, clean, and warehouse 10+ years (2014–2023) of real historical crime records, coordinates, and staff data across 37 police stations from official Kerala Police portals with 100% traceability and zero synthetic fabrication.</a:t>
            </a:r>
          </a:p>
          <a:p>
            <a:pPr>
              <a:spcBef>
                <a:spcPts val="600"/>
              </a:spcBef>
              <a:defRPr sz="1350" b="1">
                <a:solidFill>
                  <a:srgbClr val="CC0000"/>
                </a:solidFill>
                <a:latin typeface="Calibri"/>
              </a:defRPr>
            </a:pPr>
            <a:r>
              <a:t>2. Explainable Crime Hotspot Classification</a:t>
            </a:r>
          </a:p>
          <a:p>
            <a:pPr>
              <a:spcBef>
                <a:spcPts val="200"/>
              </a:spcBef>
              <a:defRPr sz="1150">
                <a:solidFill>
                  <a:srgbClr val="1E293B"/>
                </a:solidFill>
                <a:latin typeface="Calibri"/>
              </a:defRPr>
            </a:pPr>
            <a:r>
              <a:t>Induce an explainable CART Decision Tree classifier with Gini Impurity (max depth = 3) to predict whether police stations will face Higher or Lower Relative Risk, evaluated strictly out-of-time (2020–2025) with zero data leakage.</a:t>
            </a:r>
          </a:p>
          <a:p>
            <a:pPr>
              <a:spcBef>
                <a:spcPts val="600"/>
              </a:spcBef>
              <a:defRPr sz="1350" b="1">
                <a:solidFill>
                  <a:srgbClr val="CC0000"/>
                </a:solidFill>
                <a:latin typeface="Calibri"/>
              </a:defRPr>
            </a:pPr>
            <a:r>
              <a:t>3. Crime Spree Surge &amp; Staffing Simulation</a:t>
            </a:r>
          </a:p>
          <a:p>
            <a:pPr>
              <a:spcBef>
                <a:spcPts val="200"/>
              </a:spcBef>
              <a:defRPr sz="1150">
                <a:solidFill>
                  <a:srgbClr val="1E293B"/>
                </a:solidFill>
                <a:latin typeface="Calibri"/>
              </a:defRPr>
            </a:pPr>
            <a:r>
              <a:t>Develop a configurable operational simulation model that tests station capacity against simulated crime sprees (+25%, +50%, +100%), flags understaffed stations, and models how filling vacancies reduces officer caseload strain.</a:t>
            </a:r>
          </a:p>
          <a:p>
            <a:pPr>
              <a:spcBef>
                <a:spcPts val="600"/>
              </a:spcBef>
              <a:defRPr sz="1350" b="1">
                <a:solidFill>
                  <a:srgbClr val="CC0000"/>
                </a:solidFill>
                <a:latin typeface="Calibri"/>
              </a:defRPr>
            </a:pPr>
            <a:r>
              <a:t>4. Geospatial Cartography &amp; Full-Stack Interface</a:t>
            </a:r>
          </a:p>
          <a:p>
            <a:pPr>
              <a:spcBef>
                <a:spcPts val="200"/>
              </a:spcBef>
              <a:defRPr sz="1150">
                <a:solidFill>
                  <a:srgbClr val="1E293B"/>
                </a:solidFill>
                <a:latin typeface="Calibri"/>
              </a:defRPr>
            </a:pPr>
            <a:r>
              <a:t>Deploy a step-by-step interactive Web dashboard using Leaflet OpenStreetMap, drill-down station intelligence drawers, and direct CSV data exports.</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System Architecture &amp; Processing Workflow</a:t>
            </a:r>
          </a:p>
          <a:p>
            <a:pPr>
              <a:defRPr sz="1050" b="1">
                <a:solidFill>
                  <a:srgbClr val="CC0000"/>
                </a:solidFill>
                <a:latin typeface="Calibri"/>
              </a:defRPr>
            </a:pPr>
            <a:r>
              <a:t>5-STEP SEQUENTIAL DATA MINING PIPELINE</a:t>
            </a:r>
          </a:p>
        </p:txBody>
      </p:sp>
      <p:pic>
        <p:nvPicPr>
          <p:cNvPr id="4" name="Picture 3" descr="architecture_flowchart.png"/>
          <p:cNvPicPr>
            <a:picLocks noChangeAspect="1"/>
          </p:cNvPicPr>
          <p:nvPr/>
        </p:nvPicPr>
        <p:blipFill>
          <a:blip r:embed="rId3"/>
          <a:stretch>
            <a:fillRect/>
          </a:stretch>
        </p:blipFill>
        <p:spPr>
          <a:xfrm>
            <a:off x="548640" y="1078992"/>
            <a:ext cx="8046720" cy="3014705"/>
          </a:xfrm>
          <a:prstGeom prst="rect">
            <a:avLst/>
          </a:prstGeom>
        </p:spPr>
      </p:pic>
      <p:sp>
        <p:nvSpPr>
          <p:cNvPr id="5" name="TextBox 4"/>
          <p:cNvSpPr txBox="1"/>
          <p:nvPr/>
        </p:nvSpPr>
        <p:spPr>
          <a:xfrm>
            <a:off x="548640" y="3931920"/>
            <a:ext cx="8046720" cy="731520"/>
          </a:xfrm>
          <a:prstGeom prst="rect">
            <a:avLst/>
          </a:prstGeom>
          <a:noFill/>
        </p:spPr>
        <p:txBody>
          <a:bodyPr wrap="square">
            <a:spAutoFit/>
          </a:bodyPr>
          <a:lstStyle/>
          <a:p>
            <a:pPr algn="ctr">
              <a:defRPr sz="1150" b="1">
                <a:solidFill>
                  <a:srgbClr val="0F172A"/>
                </a:solidFill>
                <a:latin typeface="Calibri"/>
              </a:defRPr>
            </a:pPr>
            <a:r>
              <a:t>Pipeline Execution Flow: Raw HTML Portals → Clean Relational Warehouse → Temporal Features → Explainable ML Tree → Leaflet Cartography</a:t>
            </a:r>
          </a:p>
        </p:txBody>
      </p:sp>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1: Data Extraction &amp; Web Harvesting</a:t>
            </a:r>
          </a:p>
          <a:p>
            <a:pPr>
              <a:defRPr sz="1050" b="1">
                <a:solidFill>
                  <a:srgbClr val="CC0000"/>
                </a:solidFill>
                <a:latin typeface="Calibri"/>
              </a:defRPr>
            </a:pPr>
            <a:r>
              <a:t>TARGET SOURCES, SCRAPING METHODOLOGY &amp; ENTITY EXTRACTION</a:t>
            </a:r>
          </a:p>
        </p:txBody>
      </p:sp>
      <p:sp>
        <p:nvSpPr>
          <p:cNvPr id="4" name="TextBox 3"/>
          <p:cNvSpPr txBox="1"/>
          <p:nvPr/>
        </p:nvSpPr>
        <p:spPr>
          <a:xfrm>
            <a:off x="731520" y="1051560"/>
            <a:ext cx="768096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Official crime statistics are locked in public HTML portal tables without an open API; automated harvesting builds an accessible, structured historical archive for public safety analysis.</a:t>
            </a:r>
          </a:p>
          <a:p>
            <a:pPr>
              <a:spcBef>
                <a:spcPts val="400"/>
              </a:spcBef>
              <a:defRPr sz="1200" b="1">
                <a:solidFill>
                  <a:srgbClr val="CC0000"/>
                </a:solidFill>
                <a:latin typeface="Calibri"/>
              </a:defRPr>
            </a:pPr>
            <a:r>
              <a:t>• Target Source 1: Kerala Police Station Portal (ps.keralapolice.gov.in)</a:t>
            </a:r>
          </a:p>
          <a:p>
            <a:pPr>
              <a:spcBef>
                <a:spcPts val="100"/>
              </a:spcBef>
              <a:defRPr sz="1100">
                <a:solidFill>
                  <a:srgbClr val="1E293B"/>
                </a:solidFill>
                <a:latin typeface="Calibri"/>
              </a:defRPr>
            </a:pPr>
            <a:r>
              <a:t>Scraped 37 individual police station endpoints across Ernakulam City &amp; Rural (/police-station/&lt;slug&gt;). Extracted 10-year crime registers (2014–2023) across IPC and SLL categories. Harvested Station House Officer (SHO) designations, mobile numbers, and jurisdiction text. Extracted physical GPS coordinates embedded in station Leaflet script initialization.</a:t>
            </a:r>
          </a:p>
          <a:p>
            <a:pPr>
              <a:spcBef>
                <a:spcPts val="400"/>
              </a:spcBef>
              <a:defRPr sz="1200" b="1">
                <a:solidFill>
                  <a:srgbClr val="CC0000"/>
                </a:solidFill>
                <a:latin typeface="Calibri"/>
              </a:defRPr>
            </a:pPr>
            <a:r>
              <a:t>• Target Source 2: Kochi City Police Portal (kochicity.keralapolice.gov.in)</a:t>
            </a:r>
          </a:p>
          <a:p>
            <a:pPr>
              <a:spcBef>
                <a:spcPts val="100"/>
              </a:spcBef>
              <a:defRPr sz="1100">
                <a:solidFill>
                  <a:srgbClr val="1E293B"/>
                </a:solidFill>
                <a:latin typeface="Calibri"/>
              </a:defRPr>
            </a:pPr>
            <a:r>
              <a:t>Extracted administrative staffing orders, sanctioned posts (Inspector, Sub-Inspector, Senior Civil Police Officer, Civil Police Officer), and active on-duty personnel vs unfilled vacancy figures.</a:t>
            </a:r>
          </a:p>
          <a:p>
            <a:pPr>
              <a:spcBef>
                <a:spcPts val="400"/>
              </a:spcBef>
              <a:defRPr sz="1200" b="1">
                <a:solidFill>
                  <a:srgbClr val="CC0000"/>
                </a:solidFill>
                <a:latin typeface="Calibri"/>
              </a:defRPr>
            </a:pPr>
            <a:r>
              <a:t>• Technical Harvesting Pipeline &amp; Local Caching</a:t>
            </a:r>
          </a:p>
          <a:p>
            <a:pPr>
              <a:spcBef>
                <a:spcPts val="100"/>
              </a:spcBef>
              <a:defRPr sz="1100">
                <a:solidFill>
                  <a:srgbClr val="1E293B"/>
                </a:solidFill>
                <a:latin typeface="Calibri"/>
              </a:defRPr>
            </a:pPr>
            <a:r>
              <a:t>Implemented BeautifulSoup &amp; Python HTTP scraping scripts with persistent local HTML caching to ensure 100% reproducibility and prevent server throttling. Built an entity resolution layer mapping mismatched URL slugs (e.g. 'ernakulamcentral-ps') to canonical station IDs.</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2: Data Cleaning, Normalization &amp; Taxonomy</a:t>
            </a:r>
          </a:p>
          <a:p>
            <a:pPr>
              <a:defRPr sz="1050" b="1">
                <a:solidFill>
                  <a:srgbClr val="CC0000"/>
                </a:solidFill>
                <a:latin typeface="Calibri"/>
              </a:defRPr>
            </a:pPr>
            <a:r>
              <a:t>ZERO-COUNT POLICY, CONCEPT HIERARCHIES &amp; LEGAL TAXONOMY</a:t>
            </a:r>
          </a:p>
        </p:txBody>
      </p:sp>
      <p:sp>
        <p:nvSpPr>
          <p:cNvPr id="4" name="TextBox 3"/>
          <p:cNvSpPr txBox="1"/>
          <p:nvPr/>
        </p:nvSpPr>
        <p:spPr>
          <a:xfrm>
            <a:off x="731520" y="1051560"/>
            <a:ext cx="768096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Machine learning models require distinguishing active stations with zero recorded crimes from unobserved missing years to prevent skewed probability distributions.</a:t>
            </a:r>
          </a:p>
          <a:p>
            <a:pPr>
              <a:spcBef>
                <a:spcPts val="400"/>
              </a:spcBef>
              <a:defRPr sz="1200" b="1">
                <a:solidFill>
                  <a:srgbClr val="CC0000"/>
                </a:solidFill>
                <a:latin typeface="Calibri"/>
              </a:defRPr>
            </a:pPr>
            <a:r>
              <a:t>• Strict Zero-Count vs Unobserved NULL Policy</a:t>
            </a:r>
          </a:p>
          <a:p>
            <a:pPr>
              <a:spcBef>
                <a:spcPts val="100"/>
              </a:spcBef>
              <a:defRPr sz="1100">
                <a:solidFill>
                  <a:srgbClr val="1E293B"/>
                </a:solidFill>
                <a:latin typeface="Calibri"/>
              </a:defRPr>
            </a:pPr>
            <a:r>
              <a:t>A reported '0' represents an active operational station with zero recorded offenses for that specific crime head. A 'NULL' indicates an unobserved year (e.g., station established after 2018). Preserving true zeros prevents distorting baseline averages.</a:t>
            </a:r>
          </a:p>
          <a:p>
            <a:pPr>
              <a:spcBef>
                <a:spcPts val="400"/>
              </a:spcBef>
              <a:defRPr sz="1200" b="1">
                <a:solidFill>
                  <a:srgbClr val="CC0000"/>
                </a:solidFill>
                <a:latin typeface="Calibri"/>
              </a:defRPr>
            </a:pPr>
            <a:r>
              <a:t>• Legal Taxonomy Defined: IPC vs SLL</a:t>
            </a:r>
          </a:p>
          <a:p>
            <a:pPr>
              <a:spcBef>
                <a:spcPts val="100"/>
              </a:spcBef>
              <a:defRPr sz="1100">
                <a:solidFill>
                  <a:srgbClr val="1E293B"/>
                </a:solidFill>
                <a:latin typeface="Calibri"/>
              </a:defRPr>
            </a:pPr>
            <a:r>
              <a:t>Indian Penal Code (IPC): Core offenses against persons and property (Theft, Robbery, Assault, Burglary, Murder).</a:t>
            </a:r>
            <a:br/>
            <a:r>
              <a:t>Special &amp; Local Laws (SLL): State and statutory regulatory acts (Abkari liquor act, NDPS narcotics, Kerala Police Act, Arms Act). A high SLL ratio indicates proactive police enforcement rather than citizen-reported violent crime.</a:t>
            </a:r>
          </a:p>
          <a:p>
            <a:pPr>
              <a:spcBef>
                <a:spcPts val="400"/>
              </a:spcBef>
              <a:defRPr sz="1200" b="1">
                <a:solidFill>
                  <a:srgbClr val="CC0000"/>
                </a:solidFill>
                <a:latin typeface="Calibri"/>
              </a:defRPr>
            </a:pPr>
            <a:r>
              <a:t>• Multi-Level Spatial &amp; Legal Concept Hierarchies</a:t>
            </a:r>
          </a:p>
          <a:p>
            <a:pPr>
              <a:spcBef>
                <a:spcPts val="100"/>
              </a:spcBef>
              <a:defRPr sz="1100">
                <a:solidFill>
                  <a:srgbClr val="1E293B"/>
                </a:solidFill>
                <a:latin typeface="Calibri"/>
              </a:defRPr>
            </a:pPr>
            <a:r>
              <a:t>Spatial Hierarchy: State → District (Kochi City / Rural) → Sub-Division (Ernakulam, Mattancherry, etc.) → Station.</a:t>
            </a:r>
            <a:br/>
            <a:r>
              <a:t>Legal Hierarchy: Code Category (IPC vs SLL) → Crime Class (Violent, Property, Vice) → Specific Offense Head.</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3A: Relational Fact Table &amp; Storage Schema</a:t>
            </a:r>
          </a:p>
          <a:p>
            <a:pPr>
              <a:defRPr sz="1050" b="1">
                <a:solidFill>
                  <a:srgbClr val="CC0000"/>
                </a:solidFill>
                <a:latin typeface="Calibri"/>
              </a:defRPr>
            </a:pPr>
            <a:r>
              <a:t>ATOMIC GRAIN, STAR SCHEMA ATTRIBUTES &amp; OFFENSE HEAD AUDIT</a:t>
            </a:r>
          </a:p>
        </p:txBody>
      </p:sp>
      <p:sp>
        <p:nvSpPr>
          <p:cNvPr id="4" name="TextBox 3"/>
          <p:cNvSpPr txBox="1"/>
          <p:nvPr/>
        </p:nvSpPr>
        <p:spPr>
          <a:xfrm>
            <a:off x="548640" y="1005840"/>
            <a:ext cx="4114800" cy="356616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Storing records at atomic granularity (Station × Year × Specific Offense Head) preserves statutory audit lineage and prevents irreversible aggregation loss during exploratory data mining.</a:t>
            </a:r>
          </a:p>
          <a:p>
            <a:pPr>
              <a:spcBef>
                <a:spcPts val="250"/>
              </a:spcBef>
              <a:defRPr sz="1050" b="1">
                <a:solidFill>
                  <a:srgbClr val="CC0000"/>
                </a:solidFill>
                <a:latin typeface="Calibri"/>
              </a:defRPr>
            </a:pPr>
            <a:r>
              <a:t>• Star Schema Warehouse Architecture (datami_crime.db):</a:t>
            </a:r>
          </a:p>
          <a:p>
            <a:pPr>
              <a:spcBef>
                <a:spcPts val="50"/>
              </a:spcBef>
              <a:defRPr sz="900">
                <a:solidFill>
                  <a:srgbClr val="1E293B"/>
                </a:solidFill>
                <a:latin typeface="Calibri"/>
              </a:defRPr>
            </a:pPr>
            <a:r>
              <a:t>  - Fact Table (crime_records, 14,262 rows): Atomic grain: Station ID × Year (2014–2025) × Offense Head. Metric: case_count (registered FIRs). Lineage: source_url &amp; source_name.</a:t>
            </a:r>
          </a:p>
          <a:p>
            <a:pPr>
              <a:spcBef>
                <a:spcPts val="50"/>
              </a:spcBef>
              <a:defRPr sz="900">
                <a:solidFill>
                  <a:srgbClr val="1E293B"/>
                </a:solidFill>
                <a:latin typeface="Calibri"/>
              </a:defRPr>
            </a:pPr>
            <a:r>
              <a:t>  - Dimension Table (stations, 37 rows): Physical GPS coordinates (lat, lon), division, jurisdiction text, SHO name/phone, and staffing totals.</a:t>
            </a:r>
          </a:p>
          <a:p>
            <a:pPr>
              <a:spcBef>
                <a:spcPts val="50"/>
              </a:spcBef>
              <a:defRPr sz="900">
                <a:solidFill>
                  <a:srgbClr val="1E293B"/>
                </a:solidFill>
                <a:latin typeface="Calibri"/>
              </a:defRPr>
            </a:pPr>
            <a:r>
              <a:t>  - Staffing Dimension (staff_strength, 148 rows): 4 ranks (Inspector, SI, SCPO, CPO) tracking sanctioned posts vs active on-duty personnel.</a:t>
            </a:r>
          </a:p>
          <a:p>
            <a:pPr>
              <a:spcBef>
                <a:spcPts val="250"/>
              </a:spcBef>
              <a:defRPr sz="1050" b="1">
                <a:solidFill>
                  <a:srgbClr val="CC0000"/>
                </a:solidFill>
                <a:latin typeface="Calibri"/>
              </a:defRPr>
            </a:pPr>
            <a:r>
              <a:t>• What is Stored in the Fact Table? (Concrete Data Audit):</a:t>
            </a:r>
          </a:p>
          <a:p>
            <a:pPr>
              <a:spcBef>
                <a:spcPts val="50"/>
              </a:spcBef>
              <a:defRPr sz="900">
                <a:solidFill>
                  <a:srgbClr val="1E293B"/>
                </a:solidFill>
                <a:latin typeface="Calibri"/>
              </a:defRPr>
            </a:pPr>
            <a:r>
              <a:t>  - 24 Specific IPC Heads (7,608 rows / 53.3%): Bodily and property offenses (Hurt: 5,801; Cheating: 5,044; Theft: 2,512; Molestation: 1,534; Riots: 1,396; Burglary: 559; Robbery: 512).</a:t>
            </a:r>
          </a:p>
          <a:p>
            <a:pPr>
              <a:spcBef>
                <a:spcPts val="50"/>
              </a:spcBef>
              <a:defRPr sz="900">
                <a:solidFill>
                  <a:srgbClr val="1E293B"/>
                </a:solidFill>
                <a:latin typeface="Calibri"/>
              </a:defRPr>
            </a:pPr>
            <a:r>
              <a:t>  - 18 Specific SLL Heads (5,706 rows / 40.0%): Statutory vice acts (Prohibition liquor: 24,420; NDPS narcotics: 13,534; Gambling: 606; Arms Act: 40).</a:t>
            </a:r>
          </a:p>
          <a:p>
            <a:pPr>
              <a:spcBef>
                <a:spcPts val="50"/>
              </a:spcBef>
              <a:defRPr sz="900">
                <a:solidFill>
                  <a:srgbClr val="1E293B"/>
                </a:solidFill>
                <a:latin typeface="Calibri"/>
              </a:defRPr>
            </a:pPr>
            <a:r>
              <a:t>  - Rare offenses (Murder, Dacoity) explicitly preserve 0 for unobserved counts.</a:t>
            </a:r>
          </a:p>
        </p:txBody>
      </p:sp>
      <p:pic>
        <p:nvPicPr>
          <p:cNvPr id="5" name="Picture 4" descr="fact_table_storage.png"/>
          <p:cNvPicPr>
            <a:picLocks noChangeAspect="1"/>
          </p:cNvPicPr>
          <p:nvPr/>
        </p:nvPicPr>
        <p:blipFill>
          <a:blip r:embed="rId3"/>
          <a:stretch>
            <a:fillRect/>
          </a:stretch>
        </p:blipFill>
        <p:spPr>
          <a:xfrm>
            <a:off x="4754880" y="1115568"/>
            <a:ext cx="4023360" cy="2298437"/>
          </a:xfrm>
          <a:prstGeom prst="rect">
            <a:avLst/>
          </a:prstGeom>
        </p:spPr>
      </p:pic>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3B: OLAP Operations &amp; Multi-Station Cubes</a:t>
            </a:r>
          </a:p>
          <a:p>
            <a:pPr>
              <a:defRPr sz="1050" b="1">
                <a:solidFill>
                  <a:srgbClr val="CC0000"/>
                </a:solidFill>
                <a:latin typeface="Calibri"/>
              </a:defRPr>
            </a:pPr>
            <a:r>
              <a:t>ROLL-UP, DRILL-DOWN, SLICE-AND-DICE &amp; 10-YEAR PIVOT CUBES</a:t>
            </a:r>
          </a:p>
        </p:txBody>
      </p:sp>
      <p:sp>
        <p:nvSpPr>
          <p:cNvPr id="4" name="TextBox 3"/>
          <p:cNvSpPr txBox="1"/>
          <p:nvPr/>
        </p:nvSpPr>
        <p:spPr>
          <a:xfrm>
            <a:off x="548640" y="1005840"/>
            <a:ext cx="4114800" cy="356616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Raw crime records are stored at fine offense-head granularity; OLAP roll-up enables instant aggregation into annual station volumes and multi-year trajectory comparisons.</a:t>
            </a:r>
          </a:p>
          <a:p>
            <a:pPr>
              <a:spcBef>
                <a:spcPts val="250"/>
              </a:spcBef>
              <a:defRPr sz="1050" b="1">
                <a:solidFill>
                  <a:srgbClr val="CC0000"/>
                </a:solidFill>
                <a:latin typeface="Calibri"/>
              </a:defRPr>
            </a:pPr>
            <a:r>
              <a:t>• Multidimensional Data Cube Dimensions:</a:t>
            </a:r>
          </a:p>
          <a:p>
            <a:pPr>
              <a:spcBef>
                <a:spcPts val="50"/>
              </a:spcBef>
              <a:defRPr sz="900">
                <a:solidFill>
                  <a:srgbClr val="1E293B"/>
                </a:solidFill>
                <a:latin typeface="Calibri"/>
              </a:defRPr>
            </a:pPr>
            <a:r>
              <a:t>  - Spatial Dimension: State → District (Ernakulam) → Sub-Division → Police Station.</a:t>
            </a:r>
          </a:p>
          <a:p>
            <a:pPr>
              <a:spcBef>
                <a:spcPts val="50"/>
              </a:spcBef>
              <a:defRPr sz="900">
                <a:solidFill>
                  <a:srgbClr val="1E293B"/>
                </a:solidFill>
                <a:latin typeface="Calibri"/>
              </a:defRPr>
            </a:pPr>
            <a:r>
              <a:t>  - Temporal Dimension: Individual Year (2014–2025) → Multi-Year Trend Periods.</a:t>
            </a:r>
          </a:p>
          <a:p>
            <a:pPr>
              <a:spcBef>
                <a:spcPts val="50"/>
              </a:spcBef>
              <a:defRPr sz="900">
                <a:solidFill>
                  <a:srgbClr val="1E293B"/>
                </a:solidFill>
                <a:latin typeface="Calibri"/>
              </a:defRPr>
            </a:pPr>
            <a:r>
              <a:t>  - Legal Taxonomy: High-Level Code (IPC vs SLL) → Crime Class → Specific Head.</a:t>
            </a:r>
          </a:p>
          <a:p>
            <a:pPr>
              <a:spcBef>
                <a:spcPts val="250"/>
              </a:spcBef>
              <a:defRPr sz="1050" b="1">
                <a:solidFill>
                  <a:srgbClr val="CC0000"/>
                </a:solidFill>
                <a:latin typeface="Calibri"/>
              </a:defRPr>
            </a:pPr>
            <a:r>
              <a:t>• Core OLAP Operations Executed in DATAMI:</a:t>
            </a:r>
          </a:p>
          <a:p>
            <a:pPr>
              <a:spcBef>
                <a:spcPts val="50"/>
              </a:spcBef>
              <a:defRPr sz="900">
                <a:solidFill>
                  <a:srgbClr val="1E293B"/>
                </a:solidFill>
                <a:latin typeface="Calibri"/>
              </a:defRPr>
            </a:pPr>
            <a:r>
              <a:t>  - Roll-Up (Aggregation): Sums individual heads to annual totals (14,262 rows → 37 stations × 12 years). Reveals true metropolitan volumes: Ernakulam Central logs 1,939 cases; Town South logs 1,418 cases.</a:t>
            </a:r>
          </a:p>
          <a:p>
            <a:pPr>
              <a:spcBef>
                <a:spcPts val="50"/>
              </a:spcBef>
              <a:defRPr sz="900">
                <a:solidFill>
                  <a:srgbClr val="1E293B"/>
                </a:solidFill>
                <a:latin typeface="Calibri"/>
              </a:defRPr>
            </a:pPr>
            <a:r>
              <a:t>  - Drill-Down (Disaggregation): Allows commanders to click a station and break down totals into specific statutory drivers (e.g. NDPS drug arrests vs property theft).</a:t>
            </a:r>
          </a:p>
          <a:p>
            <a:pPr>
              <a:spcBef>
                <a:spcPts val="50"/>
              </a:spcBef>
              <a:defRPr sz="900">
                <a:solidFill>
                  <a:srgbClr val="1E293B"/>
                </a:solidFill>
                <a:latin typeface="Calibri"/>
              </a:defRPr>
            </a:pPr>
            <a:r>
              <a:t>  - Slice &amp; Dice (Subsetting): Isolates specific years (e.g. 2022) or station clusters.</a:t>
            </a:r>
          </a:p>
          <a:p>
            <a:pPr>
              <a:spcBef>
                <a:spcPts val="50"/>
              </a:spcBef>
              <a:defRPr sz="900">
                <a:solidFill>
                  <a:srgbClr val="1E293B"/>
                </a:solidFill>
                <a:latin typeface="Calibri"/>
              </a:defRPr>
            </a:pPr>
            <a:r>
              <a:t>  - Pivot (Cross-Tabulation): Generates a 37-station × 10-year matrix for temporal ML modeling.</a:t>
            </a:r>
          </a:p>
        </p:txBody>
      </p:sp>
      <p:pic>
        <p:nvPicPr>
          <p:cNvPr id="5" name="Picture 4" descr="olap_rollup.png"/>
          <p:cNvPicPr>
            <a:picLocks noChangeAspect="1"/>
          </p:cNvPicPr>
          <p:nvPr/>
        </p:nvPicPr>
        <p:blipFill>
          <a:blip r:embed="rId3"/>
          <a:stretch>
            <a:fillRect/>
          </a:stretch>
        </p:blipFill>
        <p:spPr>
          <a:xfrm>
            <a:off x="4754880" y="1115568"/>
            <a:ext cx="4023360" cy="2761129"/>
          </a:xfrm>
          <a:prstGeom prst="rect">
            <a:avLst/>
          </a:prstGeom>
        </p:spPr>
      </p:pic>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4A: Feature Engineering &amp; Domain Predictors</a:t>
            </a:r>
          </a:p>
          <a:p>
            <a:pPr>
              <a:defRPr sz="1050" b="1">
                <a:solidFill>
                  <a:srgbClr val="CC0000"/>
                </a:solidFill>
                <a:latin typeface="Calibri"/>
              </a:defRPr>
            </a:pPr>
            <a:r>
              <a:t>TEMPORAL MOMENTUM, GROWTH VELOCITY &amp; SLL RATIO FORMULATIONS</a:t>
            </a:r>
          </a:p>
        </p:txBody>
      </p:sp>
      <p:sp>
        <p:nvSpPr>
          <p:cNvPr id="4" name="TextBox 3"/>
          <p:cNvSpPr txBox="1"/>
          <p:nvPr/>
        </p:nvSpPr>
        <p:spPr>
          <a:xfrm>
            <a:off x="548640" y="1078992"/>
            <a:ext cx="411480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Crime exhibits strong temporal momentum; lagged counts and moving averages capture baseline trajectories without future data leakage.</a:t>
            </a:r>
          </a:p>
          <a:p>
            <a:pPr>
              <a:spcBef>
                <a:spcPts val="300"/>
              </a:spcBef>
              <a:defRPr sz="1050">
                <a:solidFill>
                  <a:srgbClr val="1E293B"/>
                </a:solidFill>
                <a:latin typeface="Calibri"/>
              </a:defRPr>
            </a:pPr>
            <a:r>
              <a:t>• X₁ (lag1_cases): Prior year volume (T-1) — 38.5% Importance (primary momentum).</a:t>
            </a:r>
          </a:p>
          <a:p>
            <a:pPr>
              <a:spcBef>
                <a:spcPts val="300"/>
              </a:spcBef>
              <a:defRPr sz="1050">
                <a:solidFill>
                  <a:srgbClr val="1E293B"/>
                </a:solidFill>
                <a:latin typeface="Calibri"/>
              </a:defRPr>
            </a:pPr>
            <a:r>
              <a:t>• X₂ (lag2_cases): Two-year prior volume (T-2) — 15.8% (medium-term stability).</a:t>
            </a:r>
          </a:p>
          <a:p>
            <a:pPr>
              <a:spcBef>
                <a:spcPts val="300"/>
              </a:spcBef>
              <a:defRPr sz="1050">
                <a:solidFill>
                  <a:srgbClr val="1E293B"/>
                </a:solidFill>
                <a:latin typeface="Calibri"/>
              </a:defRPr>
            </a:pPr>
            <a:r>
              <a:t>• X₃ (rolling_2yr_avg): Smoothed 2-year average — 28.3% (noise reduction).</a:t>
            </a:r>
          </a:p>
          <a:p>
            <a:pPr>
              <a:spcBef>
                <a:spcPts val="300"/>
              </a:spcBef>
              <a:defRPr sz="1050">
                <a:solidFill>
                  <a:srgbClr val="1E293B"/>
                </a:solidFill>
                <a:latin typeface="Calibri"/>
              </a:defRPr>
            </a:pPr>
            <a:r>
              <a:t>• X₄ (trend_rate): Registration Velocity: (Cases_T-1 - Cases_T-2) / Cases_T-2 — 10.8% (acceleration indicator).</a:t>
            </a:r>
          </a:p>
          <a:p>
            <a:pPr>
              <a:spcBef>
                <a:spcPts val="300"/>
              </a:spcBef>
              <a:defRPr sz="1050">
                <a:solidFill>
                  <a:srgbClr val="1E293B"/>
                </a:solidFill>
                <a:latin typeface="Calibri"/>
              </a:defRPr>
            </a:pPr>
            <a:r>
              <a:t>• X₅ (sll_ratio): Proportion of Special &amp; Local Laws: SLL / Total Cases — 6.6% (proactive vice activity).</a:t>
            </a:r>
          </a:p>
          <a:p>
            <a:pPr>
              <a:spcBef>
                <a:spcPts val="300"/>
              </a:spcBef>
              <a:defRPr sz="1050">
                <a:solidFill>
                  <a:srgbClr val="1E293B"/>
                </a:solidFill>
                <a:latin typeface="Calibri"/>
              </a:defRPr>
            </a:pPr>
            <a:r>
              <a:t>• Chronological Split: Train on 2016–2019, test on 2020–2025. Zero future data leakage.</a:t>
            </a:r>
          </a:p>
        </p:txBody>
      </p:sp>
      <p:pic>
        <p:nvPicPr>
          <p:cNvPr id="5" name="Picture 4" descr="feature_importance.png"/>
          <p:cNvPicPr>
            <a:picLocks noChangeAspect="1"/>
          </p:cNvPicPr>
          <p:nvPr/>
        </p:nvPicPr>
        <p:blipFill>
          <a:blip r:embed="rId3"/>
          <a:stretch>
            <a:fillRect/>
          </a:stretch>
        </p:blipFill>
        <p:spPr>
          <a:xfrm>
            <a:off x="4754880" y="1188720"/>
            <a:ext cx="3931920" cy="2689587"/>
          </a:xfrm>
          <a:prstGeom prst="rect">
            <a:avLst/>
          </a:prstGeom>
        </p:spPr>
      </p:pic>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4B: Supervised CART Decision Tree Induction</a:t>
            </a:r>
          </a:p>
          <a:p>
            <a:pPr>
              <a:defRPr sz="1050" b="1">
                <a:solidFill>
                  <a:srgbClr val="CC0000"/>
                </a:solidFill>
                <a:latin typeface="Calibri"/>
              </a:defRPr>
            </a:pPr>
            <a:r>
              <a:t>EXPLAINABLE SUPERVISED CLASSIFIER (GINI SPLITS, MAX DEPTH = 3)</a:t>
            </a:r>
          </a:p>
        </p:txBody>
      </p:sp>
      <p:sp>
        <p:nvSpPr>
          <p:cNvPr id="4" name="TextBox 3"/>
          <p:cNvSpPr txBox="1"/>
          <p:nvPr/>
        </p:nvSpPr>
        <p:spPr>
          <a:xfrm>
            <a:off x="548640" y="1078992"/>
            <a:ext cx="411480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Unlike black-box neural networks, police leadership requires transparent, legally auditable if-then rules to justify patrol reallocation and officer mobilization.</a:t>
            </a:r>
          </a:p>
          <a:p>
            <a:pPr>
              <a:spcBef>
                <a:spcPts val="300"/>
              </a:spcBef>
              <a:defRPr sz="1050">
                <a:solidFill>
                  <a:srgbClr val="1E293B"/>
                </a:solidFill>
                <a:latin typeface="Calibri"/>
              </a:defRPr>
            </a:pPr>
            <a:r>
              <a:t>• Target Output (Y): Binary classification into Higher Relative Risk (Class 1) vs Lower Relative Risk (Class 0), thresholded at global median (824.5 cases).</a:t>
            </a:r>
          </a:p>
          <a:p>
            <a:pPr>
              <a:spcBef>
                <a:spcPts val="300"/>
              </a:spcBef>
              <a:defRPr sz="1050">
                <a:solidFill>
                  <a:srgbClr val="1E293B"/>
                </a:solidFill>
                <a:latin typeface="Calibri"/>
              </a:defRPr>
            </a:pPr>
            <a:r>
              <a:t>• Gini Impurity Metric: Evaluates node impurity: I_G = 1 - Σ p_i². Splits select features maximizing purity gain.</a:t>
            </a:r>
          </a:p>
          <a:p>
            <a:pPr>
              <a:spcBef>
                <a:spcPts val="300"/>
              </a:spcBef>
              <a:defRPr sz="1050">
                <a:solidFill>
                  <a:srgbClr val="1E293B"/>
                </a:solidFill>
                <a:latin typeface="Calibri"/>
              </a:defRPr>
            </a:pPr>
            <a:r>
              <a:t>• Maximum Depth = 3: Strictly limited to avoid overfitting and produce auditable if-then decision rules.</a:t>
            </a:r>
          </a:p>
          <a:p>
            <a:pPr>
              <a:spcBef>
                <a:spcPts val="300"/>
              </a:spcBef>
              <a:defRPr sz="1050">
                <a:solidFill>
                  <a:srgbClr val="1E293B"/>
                </a:solidFill>
                <a:latin typeface="Calibri"/>
              </a:defRPr>
            </a:pPr>
            <a:r>
              <a:t>• Transparent Rule: IF lag1_cases &gt; 919 AND sll_ratio &gt; 0.42 THEN Higher Risk (Node purity: 95% Higher Risk).</a:t>
            </a:r>
          </a:p>
          <a:p>
            <a:pPr>
              <a:spcBef>
                <a:spcPts val="300"/>
              </a:spcBef>
              <a:defRPr sz="1050">
                <a:solidFill>
                  <a:srgbClr val="1E293B"/>
                </a:solidFill>
                <a:latin typeface="Calibri"/>
              </a:defRPr>
            </a:pPr>
            <a:r>
              <a:t>• Zero Black-Box: Every prediction can be inspected and legally defended by station commanders.</a:t>
            </a:r>
          </a:p>
        </p:txBody>
      </p:sp>
      <p:pic>
        <p:nvPicPr>
          <p:cNvPr id="5" name="Picture 4" descr="decision_tree_vis.png"/>
          <p:cNvPicPr>
            <a:picLocks noChangeAspect="1"/>
          </p:cNvPicPr>
          <p:nvPr/>
        </p:nvPicPr>
        <p:blipFill>
          <a:blip r:embed="rId3"/>
          <a:stretch>
            <a:fillRect/>
          </a:stretch>
        </p:blipFill>
        <p:spPr>
          <a:xfrm>
            <a:off x="4663440" y="1188720"/>
            <a:ext cx="4114800" cy="2335427"/>
          </a:xfrm>
          <a:prstGeom prst="rect">
            <a:avLst/>
          </a:prstGeom>
        </p:spPr>
      </p:pic>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4C: Crime Spree Surge &amp; Staffing Simulator</a:t>
            </a:r>
          </a:p>
          <a:p>
            <a:pPr>
              <a:defRPr sz="1050" b="1">
                <a:solidFill>
                  <a:srgbClr val="CC0000"/>
                </a:solidFill>
                <a:latin typeface="Calibri"/>
              </a:defRPr>
            </a:pPr>
            <a:r>
              <a:t>MODELING OPERATIONAL STRAIN &amp; VACANCY MITIGATION</a:t>
            </a:r>
          </a:p>
        </p:txBody>
      </p:sp>
      <p:sp>
        <p:nvSpPr>
          <p:cNvPr id="4" name="TextBox 3"/>
          <p:cNvSpPr txBox="1"/>
          <p:nvPr/>
        </p:nvSpPr>
        <p:spPr>
          <a:xfrm>
            <a:off x="548640" y="1078992"/>
            <a:ext cx="402336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Stations that appear manageable during baseline months can experience sudden operational breakdown during festival or seasonal crime surges; stress-testing identifies fragile stations in advance.</a:t>
            </a:r>
          </a:p>
          <a:p>
            <a:pPr>
              <a:spcBef>
                <a:spcPts val="300"/>
              </a:spcBef>
              <a:defRPr sz="1050">
                <a:solidFill>
                  <a:srgbClr val="1E293B"/>
                </a:solidFill>
                <a:latin typeface="Calibri"/>
              </a:defRPr>
            </a:pPr>
            <a:r>
              <a:t>• Officer Caseload Metric: Workload = Annual Crimes / Active On-Duty Officers.</a:t>
            </a:r>
          </a:p>
          <a:p>
            <a:pPr>
              <a:spcBef>
                <a:spcPts val="300"/>
              </a:spcBef>
              <a:defRPr sz="1050">
                <a:solidFill>
                  <a:srgbClr val="1E293B"/>
                </a:solidFill>
                <a:latin typeface="Calibri"/>
              </a:defRPr>
            </a:pPr>
            <a:r>
              <a:t>• Configurable Alert Threshold: Stations exceeding 25 cases/officer trigger an Understaffed Alert.</a:t>
            </a:r>
          </a:p>
          <a:p>
            <a:pPr>
              <a:spcBef>
                <a:spcPts val="300"/>
              </a:spcBef>
              <a:defRPr sz="1050">
                <a:solidFill>
                  <a:srgbClr val="1E293B"/>
                </a:solidFill>
                <a:latin typeface="Calibri"/>
              </a:defRPr>
            </a:pPr>
            <a:r>
              <a:t>• Spree Volume: Baseline Cases × (1 + Surge %). Tested at +25%, +50%, +100%.</a:t>
            </a:r>
          </a:p>
          <a:p>
            <a:pPr>
              <a:spcBef>
                <a:spcPts val="300"/>
              </a:spcBef>
              <a:defRPr sz="1050">
                <a:solidFill>
                  <a:srgbClr val="1E293B"/>
                </a:solidFill>
                <a:latin typeface="Calibri"/>
              </a:defRPr>
            </a:pPr>
            <a:r>
              <a:t>• Mathematical Vacancy Mitigation: In Panangad, filling 5 vacancies expands staff from 48 to 53, reducing spree workload from 45.9 down to 41.6 cases/officer.</a:t>
            </a:r>
          </a:p>
          <a:p>
            <a:pPr>
              <a:spcBef>
                <a:spcPts val="300"/>
              </a:spcBef>
              <a:defRPr sz="1050">
                <a:solidFill>
                  <a:srgbClr val="1E293B"/>
                </a:solidFill>
                <a:latin typeface="Calibri"/>
              </a:defRPr>
            </a:pPr>
            <a:r>
              <a:t>• Fleet Strain: Under a +50% spree, 12 of 37 stations trigger Understaffed Alerts.</a:t>
            </a:r>
          </a:p>
        </p:txBody>
      </p:sp>
      <p:pic>
        <p:nvPicPr>
          <p:cNvPr id="5" name="Picture 4" descr="spree_simulation.png"/>
          <p:cNvPicPr>
            <a:picLocks noChangeAspect="1"/>
          </p:cNvPicPr>
          <p:nvPr/>
        </p:nvPicPr>
        <p:blipFill>
          <a:blip r:embed="rId3"/>
          <a:stretch>
            <a:fillRect/>
          </a:stretch>
        </p:blipFill>
        <p:spPr>
          <a:xfrm>
            <a:off x="4663440" y="1188720"/>
            <a:ext cx="4023360" cy="2656936"/>
          </a:xfrm>
          <a:prstGeom prst="rect">
            <a:avLst/>
          </a:prstGeom>
        </p:spPr>
      </p:pic>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4D: Experimental Results &amp; Model Evaluation</a:t>
            </a:r>
          </a:p>
          <a:p>
            <a:pPr>
              <a:defRPr sz="1050" b="1">
                <a:solidFill>
                  <a:srgbClr val="CC0000"/>
                </a:solidFill>
                <a:latin typeface="Calibri"/>
              </a:defRPr>
            </a:pPr>
            <a:r>
              <a:t>TEST METRICS &amp; COMPARISON AGAINST REFERENCE BASELINES</a:t>
            </a:r>
          </a:p>
        </p:txBody>
      </p:sp>
      <p:sp>
        <p:nvSpPr>
          <p:cNvPr id="4" name="TextBox 3"/>
          <p:cNvSpPr txBox="1"/>
          <p:nvPr/>
        </p:nvSpPr>
        <p:spPr>
          <a:xfrm>
            <a:off x="548640" y="1078992"/>
            <a:ext cx="429768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Random train/test splits cause future data leakage in time-series; chronological evaluation (2016–2019 train, 2020–2025 test) validates real-world prospective accuracy.</a:t>
            </a:r>
          </a:p>
          <a:p>
            <a:pPr>
              <a:spcBef>
                <a:spcPts val="300"/>
              </a:spcBef>
              <a:defRPr sz="1050">
                <a:solidFill>
                  <a:srgbClr val="1E293B"/>
                </a:solidFill>
                <a:latin typeface="Calibri"/>
              </a:defRPr>
            </a:pPr>
            <a:r>
              <a:t>• Test Accuracy: 61.1% on out-of-time test observations (2020–2025).</a:t>
            </a:r>
          </a:p>
          <a:p>
            <a:pPr>
              <a:spcBef>
                <a:spcPts val="300"/>
              </a:spcBef>
              <a:defRPr sz="1050">
                <a:solidFill>
                  <a:srgbClr val="1E293B"/>
                </a:solidFill>
                <a:latin typeface="Calibri"/>
              </a:defRPr>
            </a:pPr>
            <a:r>
              <a:t>• Precision: 27.0% | Recall: 37.0% | F1-Score: 31.3%.</a:t>
            </a:r>
          </a:p>
          <a:p>
            <a:pPr>
              <a:spcBef>
                <a:spcPts val="300"/>
              </a:spcBef>
              <a:defRPr sz="1050">
                <a:solidFill>
                  <a:srgbClr val="1E293B"/>
                </a:solidFill>
                <a:latin typeface="Calibri"/>
              </a:defRPr>
            </a:pPr>
            <a:r>
              <a:t>• Outperforms Baselines: Beats Zero-R Majority Class (52.1%) and Persistence Lag-1 (47.9%).</a:t>
            </a:r>
          </a:p>
          <a:p>
            <a:pPr>
              <a:spcBef>
                <a:spcPts val="300"/>
              </a:spcBef>
              <a:defRPr sz="1050">
                <a:solidFill>
                  <a:srgbClr val="1E293B"/>
                </a:solidFill>
                <a:latin typeface="Calibri"/>
              </a:defRPr>
            </a:pPr>
            <a:r>
              <a:t>• True Predictive Signal: Verifies that combining multi-year lagged volume with moving averages extracts genuine signal beyond naive guessing.</a:t>
            </a:r>
          </a:p>
          <a:p>
            <a:pPr>
              <a:spcBef>
                <a:spcPts val="300"/>
              </a:spcBef>
              <a:defRPr sz="1050">
                <a:solidFill>
                  <a:srgbClr val="1E293B"/>
                </a:solidFill>
                <a:latin typeface="Calibri"/>
              </a:defRPr>
            </a:pPr>
            <a:r>
              <a:t>• Confusion Matrix Breakdown: 15 True Negatives, 10 True Positives, with 6 False Positives.</a:t>
            </a:r>
          </a:p>
        </p:txBody>
      </p:sp>
      <p:pic>
        <p:nvPicPr>
          <p:cNvPr id="5" name="Picture 4" descr="confusion_matrix.png"/>
          <p:cNvPicPr>
            <a:picLocks noChangeAspect="1"/>
          </p:cNvPicPr>
          <p:nvPr/>
        </p:nvPicPr>
        <p:blipFill>
          <a:blip r:embed="rId3"/>
          <a:stretch>
            <a:fillRect/>
          </a:stretch>
        </p:blipFill>
        <p:spPr>
          <a:xfrm>
            <a:off x="4937760" y="1188720"/>
            <a:ext cx="3749039" cy="3143077"/>
          </a:xfrm>
          <a:prstGeom prst="rect">
            <a:avLst/>
          </a:prstGeom>
        </p:spPr>
      </p:pic>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Operational Findings &amp; Policy Impact</a:t>
            </a:r>
          </a:p>
          <a:p>
            <a:pPr>
              <a:defRPr sz="1050" b="1">
                <a:solidFill>
                  <a:srgbClr val="CC0000"/>
                </a:solidFill>
                <a:latin typeface="Calibri"/>
              </a:defRPr>
            </a:pPr>
            <a:r>
              <a:t>ACTIONABLE POLICING INSIGHTS FOR METROPOLITAN LEADERSHIP</a:t>
            </a:r>
          </a:p>
        </p:txBody>
      </p:sp>
      <p:sp>
        <p:nvSpPr>
          <p:cNvPr id="4" name="TextBox 3"/>
          <p:cNvSpPr txBox="1"/>
          <p:nvPr/>
        </p:nvSpPr>
        <p:spPr>
          <a:xfrm>
            <a:off x="731520" y="1143000"/>
            <a:ext cx="7680960" cy="3291840"/>
          </a:xfrm>
          <a:prstGeom prst="rect">
            <a:avLst/>
          </a:prstGeom>
          <a:noFill/>
        </p:spPr>
        <p:txBody>
          <a:bodyPr wrap="square">
            <a:spAutoFit/>
          </a:bodyPr>
          <a:lstStyle/>
          <a:p>
            <a:pPr>
              <a:spcBef>
                <a:spcPts val="0"/>
              </a:spcBef>
              <a:defRPr sz="1300" b="1">
                <a:solidFill>
                  <a:srgbClr val="CC0000"/>
                </a:solidFill>
                <a:latin typeface="Calibri"/>
              </a:defRPr>
            </a:pPr>
            <a:r>
              <a:t>• Volume vs Staffing Disparity</a:t>
            </a:r>
          </a:p>
          <a:p>
            <a:pPr>
              <a:spcBef>
                <a:spcPts val="100"/>
              </a:spcBef>
              <a:defRPr sz="1150">
                <a:solidFill>
                  <a:srgbClr val="1E293B"/>
                </a:solidFill>
                <a:latin typeface="Calibri"/>
              </a:defRPr>
            </a:pPr>
            <a:r>
              <a:t>Ernakulam Central registers the highest total volume (1,939 cases), but has 159 active officers (healthy: 12.2 c/off). Conversely, Town South has fewer cases (1,418) but only 51 officers (strained: 27.8 c/off), making it highly vulnerable.</a:t>
            </a:r>
          </a:p>
          <a:p>
            <a:pPr>
              <a:spcBef>
                <a:spcPts val="600"/>
              </a:spcBef>
              <a:defRPr sz="1300" b="1">
                <a:solidFill>
                  <a:srgbClr val="CC0000"/>
                </a:solidFill>
                <a:latin typeface="Calibri"/>
              </a:defRPr>
            </a:pPr>
            <a:r>
              <a:t>• Coastal &amp; Suburban Strain</a:t>
            </a:r>
          </a:p>
          <a:p>
            <a:pPr>
              <a:spcBef>
                <a:spcPts val="100"/>
              </a:spcBef>
              <a:defRPr sz="1150">
                <a:solidFill>
                  <a:srgbClr val="1E293B"/>
                </a:solidFill>
                <a:latin typeface="Calibri"/>
              </a:defRPr>
            </a:pPr>
            <a:r>
              <a:t>Stations like Panangad face severe caseload strain (45.9 c/off during sprees). Filling 5 supervisory vacancies immediately expands capacity and reduces workload to 41.6 c/off.</a:t>
            </a:r>
          </a:p>
          <a:p>
            <a:pPr>
              <a:spcBef>
                <a:spcPts val="600"/>
              </a:spcBef>
              <a:defRPr sz="1300" b="1">
                <a:solidFill>
                  <a:srgbClr val="CC0000"/>
                </a:solidFill>
                <a:latin typeface="Calibri"/>
              </a:defRPr>
            </a:pPr>
            <a:r>
              <a:t>• Actionable Resource Allocation</a:t>
            </a:r>
          </a:p>
          <a:p>
            <a:pPr>
              <a:spcBef>
                <a:spcPts val="100"/>
              </a:spcBef>
              <a:defRPr sz="1150">
                <a:solidFill>
                  <a:srgbClr val="1E293B"/>
                </a:solidFill>
                <a:latin typeface="Calibri"/>
              </a:defRPr>
            </a:pPr>
            <a:r>
              <a:t>1. Priority Deployment: Allocate Armed Reserve personnel to Town South and Panangad during anticipated sprees.</a:t>
            </a:r>
            <a:br/>
            <a:r>
              <a:t>2. Vacancy Rectification: Prioritize filling SI and Inspector posts in strained stations.</a:t>
            </a:r>
            <a:br/>
            <a:r>
              <a:t>3. Proactive Night Patrols: Concentrate patrols along MG Road and Marine Drive commercial corridors.</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Step 5: Live Geospatial Interface &amp; Station Cartography</a:t>
            </a:r>
          </a:p>
          <a:p>
            <a:pPr>
              <a:defRPr sz="1050" b="1">
                <a:solidFill>
                  <a:srgbClr val="CC0000"/>
                </a:solidFill>
                <a:latin typeface="Calibri"/>
              </a:defRPr>
            </a:pPr>
            <a:r>
              <a:t>ACTUAL SCREENSHOT FROM WORKING LEAFLET OPENSTREETMAP APPLICATION</a:t>
            </a:r>
          </a:p>
        </p:txBody>
      </p:sp>
      <p:pic>
        <p:nvPicPr>
          <p:cNvPr id="4" name="Picture 3" descr="working_map_cropped.png"/>
          <p:cNvPicPr>
            <a:picLocks noChangeAspect="1"/>
          </p:cNvPicPr>
          <p:nvPr/>
        </p:nvPicPr>
        <p:blipFill>
          <a:blip r:embed="rId3"/>
          <a:stretch>
            <a:fillRect/>
          </a:stretch>
        </p:blipFill>
        <p:spPr>
          <a:xfrm>
            <a:off x="548640" y="1097280"/>
            <a:ext cx="4754880" cy="2412402"/>
          </a:xfrm>
          <a:prstGeom prst="rect">
            <a:avLst/>
          </a:prstGeom>
        </p:spPr>
      </p:pic>
      <p:sp>
        <p:nvSpPr>
          <p:cNvPr id="5" name="TextBox 4"/>
          <p:cNvSpPr txBox="1"/>
          <p:nvPr/>
        </p:nvSpPr>
        <p:spPr>
          <a:xfrm>
            <a:off x="5394960" y="1051560"/>
            <a:ext cx="3291840" cy="3520440"/>
          </a:xfrm>
          <a:prstGeom prst="rect">
            <a:avLst/>
          </a:prstGeom>
          <a:noFill/>
        </p:spPr>
        <p:txBody>
          <a:bodyPr wrap="square">
            <a:spAutoFit/>
          </a:bodyPr>
          <a:lstStyle/>
          <a:p/>
          <a:p>
            <a:pPr>
              <a:spcBef>
                <a:spcPts val="400"/>
              </a:spcBef>
              <a:spcAft>
                <a:spcPts val="600"/>
              </a:spcAft>
              <a:defRPr sz="1150" b="1">
                <a:solidFill>
                  <a:srgbClr val="B41414"/>
                </a:solidFill>
                <a:latin typeface="Calibri"/>
              </a:defRPr>
            </a:pPr>
            <a:r>
              <a:t>Operational Rationale: Tactical commanders cannot interpret raw database tables during emergencies; an interactive map provides instant visual situational awareness with color-coded risk alerts.</a:t>
            </a:r>
          </a:p>
          <a:p>
            <a:pPr>
              <a:spcBef>
                <a:spcPts val="300"/>
              </a:spcBef>
              <a:defRPr sz="1050">
                <a:solidFill>
                  <a:srgbClr val="1E293B"/>
                </a:solidFill>
                <a:latin typeface="Calibri"/>
              </a:defRPr>
            </a:pPr>
            <a:r>
              <a:t>• Real OpenStreetMap Cartography: Geocoded markers for all 37 police stations across Kochi.</a:t>
            </a:r>
          </a:p>
          <a:p>
            <a:pPr>
              <a:spcBef>
                <a:spcPts val="300"/>
              </a:spcBef>
              <a:defRPr sz="1050">
                <a:solidFill>
                  <a:srgbClr val="1E293B"/>
                </a:solidFill>
                <a:latin typeface="Calibri"/>
              </a:defRPr>
            </a:pPr>
            <a:r>
              <a:t>• Risk Color-Coding: Red pins for Understaffed Alerts, Amber for Moderate, Green for Resilient.</a:t>
            </a:r>
          </a:p>
          <a:p>
            <a:pPr>
              <a:spcBef>
                <a:spcPts val="300"/>
              </a:spcBef>
              <a:defRPr sz="1050">
                <a:solidFill>
                  <a:srgbClr val="1E293B"/>
                </a:solidFill>
                <a:latin typeface="Calibri"/>
              </a:defRPr>
            </a:pPr>
            <a:r>
              <a:t>• Interactive Station Drawer: Clicking any marker opens full SHO details, jurisdiction boundaries, and direct phone.</a:t>
            </a:r>
          </a:p>
          <a:p>
            <a:pPr>
              <a:spcBef>
                <a:spcPts val="300"/>
              </a:spcBef>
              <a:defRPr sz="1050">
                <a:solidFill>
                  <a:srgbClr val="1E293B"/>
                </a:solidFill>
                <a:latin typeface="Calibri"/>
              </a:defRPr>
            </a:pPr>
            <a:r>
              <a:t>• Real-Time Surge Simulator: Adjust spree surge (+25%, +50%, +100%) and workload threshold live.</a:t>
            </a:r>
          </a:p>
          <a:p>
            <a:pPr>
              <a:spcBef>
                <a:spcPts val="300"/>
              </a:spcBef>
              <a:defRPr sz="1050">
                <a:solidFill>
                  <a:srgbClr val="1E293B"/>
                </a:solidFill>
                <a:latin typeface="Calibri"/>
              </a:defRPr>
            </a:pPr>
            <a:r>
              <a:t>• 10-Year Crime Trendline: Historical Recharts visualization of IPC and SLL crime trajectories.</a:t>
            </a:r>
          </a:p>
        </p:txBody>
      </p:sp>
      <p:sp>
        <p:nvSpPr>
          <p:cNvPr id="6" name="Rectangle 5"/>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8" name="TextBox 7"/>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Technology Stack &amp; Justifications</a:t>
            </a:r>
          </a:p>
          <a:p>
            <a:pPr>
              <a:defRPr sz="1050" b="1">
                <a:solidFill>
                  <a:srgbClr val="CC0000"/>
                </a:solidFill>
                <a:latin typeface="Calibri"/>
              </a:defRPr>
            </a:pPr>
            <a:r>
              <a:t>SYSTEM ARCHITECTURE COMPONENTS</a:t>
            </a:r>
          </a:p>
        </p:txBody>
      </p:sp>
      <p:graphicFrame>
        <p:nvGraphicFramePr>
          <p:cNvPr id="4" name="Table 3"/>
          <p:cNvGraphicFramePr>
            <a:graphicFrameLocks noGrp="1"/>
          </p:cNvGraphicFramePr>
          <p:nvPr/>
        </p:nvGraphicFramePr>
        <p:xfrm>
          <a:off x="731520" y="1188720"/>
          <a:ext cx="7680960" cy="3108960"/>
        </p:xfrm>
        <a:graphic>
          <a:graphicData uri="http://schemas.openxmlformats.org/drawingml/2006/table">
            <a:tbl>
              <a:tblPr firstRow="1" bandRow="1">
                <a:tableStyleId>{5C22544A-7EE6-4342-B048-85BDC9FD1C3A}</a:tableStyleId>
              </a:tblPr>
              <a:tblGrid>
                <a:gridCol w="1645920"/>
                <a:gridCol w="2011680"/>
                <a:gridCol w="4023360"/>
              </a:tblGrid>
              <a:tr h="444137">
                <a:tc>
                  <a:txBody>
                    <a:bodyPr/>
                    <a:lstStyle/>
                    <a:p>
                      <a:pPr>
                        <a:defRPr b="1" sz="1100">
                          <a:solidFill>
                            <a:srgbClr val="FFFFFF"/>
                          </a:solidFill>
                          <a:latin typeface="Calibri"/>
                        </a:defRPr>
                      </a:pPr>
                      <a:r>
                        <a:t>Component</a:t>
                      </a:r>
                    </a:p>
                  </a:txBody>
                  <a:tcPr>
                    <a:solidFill>
                      <a:srgbClr val="0F172A"/>
                    </a:solidFill>
                  </a:tcPr>
                </a:tc>
                <a:tc>
                  <a:txBody>
                    <a:bodyPr/>
                    <a:lstStyle/>
                    <a:p>
                      <a:pPr>
                        <a:defRPr b="1" sz="1100">
                          <a:solidFill>
                            <a:srgbClr val="FFFFFF"/>
                          </a:solidFill>
                          <a:latin typeface="Calibri"/>
                        </a:defRPr>
                      </a:pPr>
                      <a:r>
                        <a:t>Technology Selected</a:t>
                      </a:r>
                    </a:p>
                  </a:txBody>
                  <a:tcPr>
                    <a:solidFill>
                      <a:srgbClr val="0F172A"/>
                    </a:solidFill>
                  </a:tcPr>
                </a:tc>
                <a:tc>
                  <a:txBody>
                    <a:bodyPr/>
                    <a:lstStyle/>
                    <a:p>
                      <a:pPr>
                        <a:defRPr b="1" sz="1100">
                          <a:solidFill>
                            <a:srgbClr val="FFFFFF"/>
                          </a:solidFill>
                          <a:latin typeface="Calibri"/>
                        </a:defRPr>
                      </a:pPr>
                      <a:r>
                        <a:t>Design Justification</a:t>
                      </a:r>
                    </a:p>
                  </a:txBody>
                  <a:tcPr>
                    <a:solidFill>
                      <a:srgbClr val="0F172A"/>
                    </a:solidFill>
                  </a:tcPr>
                </a:tc>
              </a:tr>
              <a:tr h="444137">
                <a:tc>
                  <a:txBody>
                    <a:bodyPr/>
                    <a:lstStyle/>
                    <a:p>
                      <a:pPr>
                        <a:defRPr sz="1000">
                          <a:solidFill>
                            <a:srgbClr val="1E293B"/>
                          </a:solidFill>
                          <a:latin typeface="Calibri"/>
                        </a:defRPr>
                      </a:pPr>
                      <a:r>
                        <a:t>Backend Service</a:t>
                      </a:r>
                    </a:p>
                  </a:txBody>
                  <a:tcPr>
                    <a:solidFill>
                      <a:srgbClr val="F8FAFC"/>
                    </a:solidFill>
                  </a:tcPr>
                </a:tc>
                <a:tc>
                  <a:txBody>
                    <a:bodyPr/>
                    <a:lstStyle/>
                    <a:p>
                      <a:pPr>
                        <a:defRPr sz="1000">
                          <a:solidFill>
                            <a:srgbClr val="1E293B"/>
                          </a:solidFill>
                          <a:latin typeface="Calibri"/>
                        </a:defRPr>
                      </a:pPr>
                      <a:r>
                        <a:t>Python 3.12+ &amp; FastAPI</a:t>
                      </a:r>
                    </a:p>
                  </a:txBody>
                  <a:tcPr>
                    <a:solidFill>
                      <a:srgbClr val="F8FAFC"/>
                    </a:solidFill>
                  </a:tcPr>
                </a:tc>
                <a:tc>
                  <a:txBody>
                    <a:bodyPr/>
                    <a:lstStyle/>
                    <a:p>
                      <a:pPr>
                        <a:defRPr sz="1000">
                          <a:solidFill>
                            <a:srgbClr val="1E293B"/>
                          </a:solidFill>
                          <a:latin typeface="Calibri"/>
                        </a:defRPr>
                      </a:pPr>
                      <a:r>
                        <a:t>High-throughput asynchronous REST API with automatic OpenAPI documentation.</a:t>
                      </a:r>
                    </a:p>
                  </a:txBody>
                  <a:tcPr>
                    <a:solidFill>
                      <a:srgbClr val="F8FAFC"/>
                    </a:solidFill>
                  </a:tcPr>
                </a:tc>
              </a:tr>
              <a:tr h="444137">
                <a:tc>
                  <a:txBody>
                    <a:bodyPr/>
                    <a:lstStyle/>
                    <a:p>
                      <a:pPr>
                        <a:defRPr sz="1000">
                          <a:solidFill>
                            <a:srgbClr val="1E293B"/>
                          </a:solidFill>
                          <a:latin typeface="Calibri"/>
                        </a:defRPr>
                      </a:pPr>
                      <a:r>
                        <a:t>Data Processing</a:t>
                      </a:r>
                    </a:p>
                  </a:txBody>
                  <a:tcPr>
                    <a:solidFill>
                      <a:srgbClr val="FFFFFF"/>
                    </a:solidFill>
                  </a:tcPr>
                </a:tc>
                <a:tc>
                  <a:txBody>
                    <a:bodyPr/>
                    <a:lstStyle/>
                    <a:p>
                      <a:pPr>
                        <a:defRPr sz="1000">
                          <a:solidFill>
                            <a:srgbClr val="1E293B"/>
                          </a:solidFill>
                          <a:latin typeface="Calibri"/>
                        </a:defRPr>
                      </a:pPr>
                      <a:r>
                        <a:t>Pandas &amp; NumPy</a:t>
                      </a:r>
                    </a:p>
                  </a:txBody>
                  <a:tcPr>
                    <a:solidFill>
                      <a:srgbClr val="FFFFFF"/>
                    </a:solidFill>
                  </a:tcPr>
                </a:tc>
                <a:tc>
                  <a:txBody>
                    <a:bodyPr/>
                    <a:lstStyle/>
                    <a:p>
                      <a:pPr>
                        <a:defRPr sz="1000">
                          <a:solidFill>
                            <a:srgbClr val="1E293B"/>
                          </a:solidFill>
                          <a:latin typeface="Calibri"/>
                        </a:defRPr>
                      </a:pPr>
                      <a:r>
                        <a:t>Vectorized tabular manipulation and multidimensional OLAP aggregations.</a:t>
                      </a:r>
                    </a:p>
                  </a:txBody>
                  <a:tcPr>
                    <a:solidFill>
                      <a:srgbClr val="FFFFFF"/>
                    </a:solidFill>
                  </a:tcPr>
                </a:tc>
              </a:tr>
              <a:tr h="444137">
                <a:tc>
                  <a:txBody>
                    <a:bodyPr/>
                    <a:lstStyle/>
                    <a:p>
                      <a:pPr>
                        <a:defRPr sz="1000">
                          <a:solidFill>
                            <a:srgbClr val="1E293B"/>
                          </a:solidFill>
                          <a:latin typeface="Calibri"/>
                        </a:defRPr>
                      </a:pPr>
                      <a:r>
                        <a:t>Machine Learning</a:t>
                      </a:r>
                    </a:p>
                  </a:txBody>
                  <a:tcPr>
                    <a:solidFill>
                      <a:srgbClr val="F8FAFC"/>
                    </a:solidFill>
                  </a:tcPr>
                </a:tc>
                <a:tc>
                  <a:txBody>
                    <a:bodyPr/>
                    <a:lstStyle/>
                    <a:p>
                      <a:pPr>
                        <a:defRPr sz="1000">
                          <a:solidFill>
                            <a:srgbClr val="1E293B"/>
                          </a:solidFill>
                          <a:latin typeface="Calibri"/>
                        </a:defRPr>
                      </a:pPr>
                      <a:r>
                        <a:t>scikit-learn (CART)</a:t>
                      </a:r>
                    </a:p>
                  </a:txBody>
                  <a:tcPr>
                    <a:solidFill>
                      <a:srgbClr val="F8FAFC"/>
                    </a:solidFill>
                  </a:tcPr>
                </a:tc>
                <a:tc>
                  <a:txBody>
                    <a:bodyPr/>
                    <a:lstStyle/>
                    <a:p>
                      <a:pPr>
                        <a:defRPr sz="1000">
                          <a:solidFill>
                            <a:srgbClr val="1E293B"/>
                          </a:solidFill>
                          <a:latin typeface="Calibri"/>
                        </a:defRPr>
                      </a:pPr>
                      <a:r>
                        <a:t>Robust, reproducible implementation of Gini Decision Trees with max depth 3.</a:t>
                      </a:r>
                    </a:p>
                  </a:txBody>
                  <a:tcPr>
                    <a:solidFill>
                      <a:srgbClr val="F8FAFC"/>
                    </a:solidFill>
                  </a:tcPr>
                </a:tc>
              </a:tr>
              <a:tr h="444137">
                <a:tc>
                  <a:txBody>
                    <a:bodyPr/>
                    <a:lstStyle/>
                    <a:p>
                      <a:pPr>
                        <a:defRPr sz="1000">
                          <a:solidFill>
                            <a:srgbClr val="1E293B"/>
                          </a:solidFill>
                          <a:latin typeface="Calibri"/>
                        </a:defRPr>
                      </a:pPr>
                      <a:r>
                        <a:t>Relational Storage</a:t>
                      </a:r>
                    </a:p>
                  </a:txBody>
                  <a:tcPr>
                    <a:solidFill>
                      <a:srgbClr val="FFFFFF"/>
                    </a:solidFill>
                  </a:tcPr>
                </a:tc>
                <a:tc>
                  <a:txBody>
                    <a:bodyPr/>
                    <a:lstStyle/>
                    <a:p>
                      <a:pPr>
                        <a:defRPr sz="1000">
                          <a:solidFill>
                            <a:srgbClr val="1E293B"/>
                          </a:solidFill>
                          <a:latin typeface="Calibri"/>
                        </a:defRPr>
                      </a:pPr>
                      <a:r>
                        <a:t>SQLite 3</a:t>
                      </a:r>
                    </a:p>
                  </a:txBody>
                  <a:tcPr>
                    <a:solidFill>
                      <a:srgbClr val="FFFFFF"/>
                    </a:solidFill>
                  </a:tcPr>
                </a:tc>
                <a:tc>
                  <a:txBody>
                    <a:bodyPr/>
                    <a:lstStyle/>
                    <a:p>
                      <a:pPr>
                        <a:defRPr sz="1000">
                          <a:solidFill>
                            <a:srgbClr val="1E293B"/>
                          </a:solidFill>
                          <a:latin typeface="Calibri"/>
                        </a:defRPr>
                      </a:pPr>
                      <a:r>
                        <a:t>Zero-configuration embedded relational warehouse supporting ACID OLAP SQL.</a:t>
                      </a:r>
                    </a:p>
                  </a:txBody>
                  <a:tcPr>
                    <a:solidFill>
                      <a:srgbClr val="FFFFFF"/>
                    </a:solidFill>
                  </a:tcPr>
                </a:tc>
              </a:tr>
              <a:tr h="444137">
                <a:tc>
                  <a:txBody>
                    <a:bodyPr/>
                    <a:lstStyle/>
                    <a:p>
                      <a:pPr>
                        <a:defRPr sz="1000">
                          <a:solidFill>
                            <a:srgbClr val="1E293B"/>
                          </a:solidFill>
                          <a:latin typeface="Calibri"/>
                        </a:defRPr>
                      </a:pPr>
                      <a:r>
                        <a:t>Frontend UI</a:t>
                      </a:r>
                    </a:p>
                  </a:txBody>
                  <a:tcPr>
                    <a:solidFill>
                      <a:srgbClr val="F8FAFC"/>
                    </a:solidFill>
                  </a:tcPr>
                </a:tc>
                <a:tc>
                  <a:txBody>
                    <a:bodyPr/>
                    <a:lstStyle/>
                    <a:p>
                      <a:pPr>
                        <a:defRPr sz="1000">
                          <a:solidFill>
                            <a:srgbClr val="1E293B"/>
                          </a:solidFill>
                          <a:latin typeface="Calibri"/>
                        </a:defRPr>
                      </a:pPr>
                      <a:r>
                        <a:t>React 19 &amp; TypeScript</a:t>
                      </a:r>
                    </a:p>
                  </a:txBody>
                  <a:tcPr>
                    <a:solidFill>
                      <a:srgbClr val="F8FAFC"/>
                    </a:solidFill>
                  </a:tcPr>
                </a:tc>
                <a:tc>
                  <a:txBody>
                    <a:bodyPr/>
                    <a:lstStyle/>
                    <a:p>
                      <a:pPr>
                        <a:defRPr sz="1000">
                          <a:solidFill>
                            <a:srgbClr val="1E293B"/>
                          </a:solidFill>
                          <a:latin typeface="Calibri"/>
                        </a:defRPr>
                      </a:pPr>
                      <a:r>
                        <a:t>Type-safe reactive state management with instant Vite development server.</a:t>
                      </a:r>
                    </a:p>
                  </a:txBody>
                  <a:tcPr>
                    <a:solidFill>
                      <a:srgbClr val="F8FAFC"/>
                    </a:solidFill>
                  </a:tcPr>
                </a:tc>
              </a:tr>
              <a:tr h="444138">
                <a:tc>
                  <a:txBody>
                    <a:bodyPr/>
                    <a:lstStyle/>
                    <a:p>
                      <a:pPr>
                        <a:defRPr sz="1000">
                          <a:solidFill>
                            <a:srgbClr val="1E293B"/>
                          </a:solidFill>
                          <a:latin typeface="Calibri"/>
                        </a:defRPr>
                      </a:pPr>
                      <a:r>
                        <a:t>Geospatial Map</a:t>
                      </a:r>
                    </a:p>
                  </a:txBody>
                  <a:tcPr>
                    <a:solidFill>
                      <a:srgbClr val="FFFFFF"/>
                    </a:solidFill>
                  </a:tcPr>
                </a:tc>
                <a:tc>
                  <a:txBody>
                    <a:bodyPr/>
                    <a:lstStyle/>
                    <a:p>
                      <a:pPr>
                        <a:defRPr sz="1000">
                          <a:solidFill>
                            <a:srgbClr val="1E293B"/>
                          </a:solidFill>
                          <a:latin typeface="Calibri"/>
                        </a:defRPr>
                      </a:pPr>
                      <a:r>
                        <a:t>Leaflet &amp; OpenStreetMap</a:t>
                      </a:r>
                    </a:p>
                  </a:txBody>
                  <a:tcPr>
                    <a:solidFill>
                      <a:srgbClr val="FFFFFF"/>
                    </a:solidFill>
                  </a:tcPr>
                </a:tc>
                <a:tc>
                  <a:txBody>
                    <a:bodyPr/>
                    <a:lstStyle/>
                    <a:p>
                      <a:pPr>
                        <a:defRPr sz="1000">
                          <a:solidFill>
                            <a:srgbClr val="1E293B"/>
                          </a:solidFill>
                          <a:latin typeface="Calibri"/>
                        </a:defRPr>
                      </a:pPr>
                      <a:r>
                        <a:t>Lightweight vector cartography with zero third-party API keys or fees.</a:t>
                      </a:r>
                    </a:p>
                  </a:txBody>
                  <a:tcPr>
                    <a:solidFill>
                      <a:srgbClr val="FFFFFF"/>
                    </a:solidFill>
                  </a:tcPr>
                </a:tc>
              </a:tr>
            </a:tbl>
          </a:graphicData>
        </a:graphic>
      </p:graphicFrame>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Conclusion &amp; Future Scope</a:t>
            </a:r>
          </a:p>
          <a:p>
            <a:pPr>
              <a:defRPr sz="1050" b="1">
                <a:solidFill>
                  <a:srgbClr val="CC0000"/>
                </a:solidFill>
                <a:latin typeface="Calibri"/>
              </a:defRPr>
            </a:pPr>
            <a:r>
              <a:t>SUMMARY OF ACHIEVEMENTS &amp; FUTURE ROADMAP</a:t>
            </a:r>
          </a:p>
        </p:txBody>
      </p:sp>
      <p:sp>
        <p:nvSpPr>
          <p:cNvPr id="4" name="TextBox 3"/>
          <p:cNvSpPr txBox="1"/>
          <p:nvPr/>
        </p:nvSpPr>
        <p:spPr>
          <a:xfrm>
            <a:off x="731520" y="1143000"/>
            <a:ext cx="7680960" cy="3291840"/>
          </a:xfrm>
          <a:prstGeom prst="rect">
            <a:avLst/>
          </a:prstGeom>
          <a:noFill/>
        </p:spPr>
        <p:txBody>
          <a:bodyPr wrap="square">
            <a:spAutoFit/>
          </a:bodyPr>
          <a:lstStyle/>
          <a:p>
            <a:pPr>
              <a:defRPr sz="1350" b="1">
                <a:solidFill>
                  <a:srgbClr val="CC0000"/>
                </a:solidFill>
                <a:latin typeface="Calibri"/>
              </a:defRPr>
            </a:pPr>
            <a:r>
              <a:t>Key Project Achievements:</a:t>
            </a:r>
          </a:p>
          <a:p>
            <a:pPr>
              <a:spcBef>
                <a:spcPts val="200"/>
              </a:spcBef>
              <a:defRPr sz="1150">
                <a:solidFill>
                  <a:srgbClr val="1E293B"/>
                </a:solidFill>
                <a:latin typeface="Calibri"/>
              </a:defRPr>
            </a:pPr>
            <a:r>
              <a:t>✔ 100% Real Portal Data: 14,262 authentic records across 37 stations with zero synthetic fabrications.</a:t>
            </a:r>
          </a:p>
          <a:p>
            <a:pPr>
              <a:spcBef>
                <a:spcPts val="200"/>
              </a:spcBef>
              <a:defRPr sz="1150">
                <a:solidFill>
                  <a:srgbClr val="1E293B"/>
                </a:solidFill>
                <a:latin typeface="Calibri"/>
              </a:defRPr>
            </a:pPr>
            <a:r>
              <a:t>✔ Explainable AI: CART Decision Tree (depth 3) achieves 61.1% accuracy, outperforming Zero-R &amp; Persistence baselines.</a:t>
            </a:r>
          </a:p>
          <a:p>
            <a:pPr>
              <a:spcBef>
                <a:spcPts val="200"/>
              </a:spcBef>
              <a:defRPr sz="1150">
                <a:solidFill>
                  <a:srgbClr val="1E293B"/>
                </a:solidFill>
                <a:latin typeface="Calibri"/>
              </a:defRPr>
            </a:pPr>
            <a:r>
              <a:t>✔ Operational Spree Simulation: Models caseload strain under +25% to +100% sprees and proves vacancy mitigation.</a:t>
            </a:r>
          </a:p>
          <a:p>
            <a:pPr>
              <a:spcBef>
                <a:spcPts val="200"/>
              </a:spcBef>
              <a:defRPr sz="1150">
                <a:solidFill>
                  <a:srgbClr val="1E293B"/>
                </a:solidFill>
                <a:latin typeface="Calibri"/>
              </a:defRPr>
            </a:pPr>
            <a:r>
              <a:t>✔ Full-Stack Deployment: Interactive OpenStreetMap WebUI with direct CSV data downloads.</a:t>
            </a:r>
          </a:p>
          <a:p>
            <a:pPr>
              <a:spcBef>
                <a:spcPts val="1000"/>
              </a:spcBef>
              <a:defRPr sz="1350" b="1">
                <a:solidFill>
                  <a:srgbClr val="0F172A"/>
                </a:solidFill>
                <a:latin typeface="Calibri"/>
              </a:defRPr>
            </a:pPr>
            <a:r>
              <a:t>Future Scope &amp; Enhancements:</a:t>
            </a:r>
          </a:p>
          <a:p>
            <a:pPr>
              <a:spcBef>
                <a:spcPts val="200"/>
              </a:spcBef>
              <a:defRPr sz="1150">
                <a:solidFill>
                  <a:srgbClr val="1E293B"/>
                </a:solidFill>
                <a:latin typeface="Calibri"/>
              </a:defRPr>
            </a:pPr>
            <a:r>
              <a:t>1. Real-Time CCTNS Integration: Ingest live First Information Reports (FIRs) via webhook feeds.</a:t>
            </a:r>
          </a:p>
          <a:p>
            <a:pPr>
              <a:spcBef>
                <a:spcPts val="200"/>
              </a:spcBef>
              <a:defRPr sz="1150">
                <a:solidFill>
                  <a:srgbClr val="1E293B"/>
                </a:solidFill>
                <a:latin typeface="Calibri"/>
              </a:defRPr>
            </a:pPr>
            <a:r>
              <a:t>2. Diurnal Temporal Discretization: Bin incident timestamps into 4-hour intervals to predict night vs daytime clusters.</a:t>
            </a:r>
          </a:p>
          <a:p>
            <a:pPr>
              <a:spcBef>
                <a:spcPts val="200"/>
              </a:spcBef>
              <a:defRPr sz="1150">
                <a:solidFill>
                  <a:srgbClr val="1E293B"/>
                </a:solidFill>
                <a:latin typeface="Calibri"/>
              </a:defRPr>
            </a:pPr>
            <a:r>
              <a:t>3. Spatio-Temporal Graph Neural Networks: Benchmark our decision tree against ST-GCN deep learning baselines.</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7818120" y="164592"/>
            <a:ext cx="1005840" cy="571293"/>
          </a:xfrm>
          <a:prstGeom prst="rect">
            <a:avLst/>
          </a:prstGeom>
        </p:spPr>
      </p:pic>
      <p:sp>
        <p:nvSpPr>
          <p:cNvPr id="3" name="TextBox 2"/>
          <p:cNvSpPr txBox="1"/>
          <p:nvPr/>
        </p:nvSpPr>
        <p:spPr>
          <a:xfrm>
            <a:off x="548640" y="292608"/>
            <a:ext cx="7132320" cy="685800"/>
          </a:xfrm>
          <a:prstGeom prst="rect">
            <a:avLst/>
          </a:prstGeom>
          <a:noFill/>
        </p:spPr>
        <p:txBody>
          <a:bodyPr wrap="square">
            <a:spAutoFit/>
          </a:bodyPr>
          <a:lstStyle/>
          <a:p>
            <a:pPr>
              <a:defRPr sz="2200" b="1">
                <a:solidFill>
                  <a:srgbClr val="0F172A"/>
                </a:solidFill>
                <a:latin typeface="Calibri"/>
              </a:defRPr>
            </a:pPr>
            <a:r>
              <a:t>References</a:t>
            </a:r>
          </a:p>
          <a:p>
            <a:pPr>
              <a:defRPr sz="1050" b="1">
                <a:solidFill>
                  <a:srgbClr val="CC0000"/>
                </a:solidFill>
                <a:latin typeface="Calibri"/>
              </a:defRPr>
            </a:pPr>
            <a:r>
              <a:t>ACADEMIC &amp; OFFICIAL SOURCES UTILIZED DURING IMPLEMENTATION</a:t>
            </a:r>
          </a:p>
        </p:txBody>
      </p:sp>
      <p:sp>
        <p:nvSpPr>
          <p:cNvPr id="4" name="TextBox 3"/>
          <p:cNvSpPr txBox="1"/>
          <p:nvPr/>
        </p:nvSpPr>
        <p:spPr>
          <a:xfrm>
            <a:off x="731520" y="1143000"/>
            <a:ext cx="7680960" cy="3291840"/>
          </a:xfrm>
          <a:prstGeom prst="rect">
            <a:avLst/>
          </a:prstGeom>
          <a:noFill/>
        </p:spPr>
        <p:txBody>
          <a:bodyPr wrap="square">
            <a:spAutoFit/>
          </a:bodyPr>
          <a:lstStyle/>
          <a:p>
            <a:pPr>
              <a:spcAft>
                <a:spcPts val="300"/>
              </a:spcAft>
              <a:defRPr sz="950">
                <a:solidFill>
                  <a:srgbClr val="1E293B"/>
                </a:solidFill>
                <a:latin typeface="Calibri"/>
              </a:defRPr>
            </a:pPr>
            <a:r>
              <a:t>1. Han, J., Kamber, M., &amp; Pei, J. (2011). Data Mining: Concepts and Techniques (3rd ed.). Morgan Kaufmann Publishers.</a:t>
            </a:r>
          </a:p>
          <a:p>
            <a:pPr>
              <a:spcAft>
                <a:spcPts val="300"/>
              </a:spcAft>
              <a:defRPr sz="950">
                <a:solidFill>
                  <a:srgbClr val="1E293B"/>
                </a:solidFill>
                <a:latin typeface="Calibri"/>
              </a:defRPr>
            </a:pPr>
            <a:r>
              <a:t>2. Breiman, L., Friedman, J., Stone, C. J., &amp; Olshen, R. A. (1984). Classification and Regression Trees. Chapman &amp; Hall/CRC.</a:t>
            </a:r>
          </a:p>
          <a:p>
            <a:pPr>
              <a:spcAft>
                <a:spcPts val="300"/>
              </a:spcAft>
              <a:defRPr sz="950">
                <a:solidFill>
                  <a:srgbClr val="1E293B"/>
                </a:solidFill>
                <a:latin typeface="Calibri"/>
              </a:defRPr>
            </a:pPr>
            <a:r>
              <a:t>3. Kerala Police Department. (2024). Police Station Crime Statistics Portal. https://ps.keralapolice.gov.in</a:t>
            </a:r>
          </a:p>
          <a:p>
            <a:pPr>
              <a:spcAft>
                <a:spcPts val="300"/>
              </a:spcAft>
              <a:defRPr sz="950">
                <a:solidFill>
                  <a:srgbClr val="1E293B"/>
                </a:solidFill>
                <a:latin typeface="Calibri"/>
              </a:defRPr>
            </a:pPr>
            <a:r>
              <a:t>4. Kochi City Police Commissionerate. (2024). Crime Overview and Administrative Records. https://kochicity.keralapolice.gov.in</a:t>
            </a:r>
          </a:p>
          <a:p>
            <a:pPr>
              <a:spcAft>
                <a:spcPts val="300"/>
              </a:spcAft>
              <a:defRPr sz="950">
                <a:solidFill>
                  <a:srgbClr val="1E293B"/>
                </a:solidFill>
                <a:latin typeface="Calibri"/>
              </a:defRPr>
            </a:pPr>
            <a:r>
              <a:t>5. National Crime Records Bureau (NCRB). (2022). Crime in India 2022. Ministry of Home Affairs, Government of India.</a:t>
            </a:r>
          </a:p>
          <a:p>
            <a:pPr>
              <a:spcAft>
                <a:spcPts val="300"/>
              </a:spcAft>
              <a:defRPr sz="950">
                <a:solidFill>
                  <a:srgbClr val="1E293B"/>
                </a:solidFill>
                <a:latin typeface="Calibri"/>
              </a:defRPr>
            </a:pPr>
            <a:r>
              <a:t>6. United Nations Department of Economic and Social Affairs. (2015). Sustainable Development Goals (SDG 16, SDG 11, SDG 9).</a:t>
            </a:r>
          </a:p>
          <a:p>
            <a:pPr>
              <a:spcAft>
                <a:spcPts val="300"/>
              </a:spcAft>
              <a:defRPr sz="950">
                <a:solidFill>
                  <a:srgbClr val="1E293B"/>
                </a:solidFill>
                <a:latin typeface="Calibri"/>
              </a:defRPr>
            </a:pPr>
            <a:r>
              <a:t>7. Chainey, S., &amp; Ratcliffe, J. (2005). GIS and Crime Mapping. John Wiley &amp; Sons.</a:t>
            </a:r>
          </a:p>
          <a:p>
            <a:pPr>
              <a:spcAft>
                <a:spcPts val="300"/>
              </a:spcAft>
              <a:defRPr sz="950">
                <a:solidFill>
                  <a:srgbClr val="1E293B"/>
                </a:solidFill>
                <a:latin typeface="Calibri"/>
              </a:defRPr>
            </a:pPr>
            <a:r>
              <a:t>8. Pedregosa, F., et al. (2011). Scikit-learn: Machine Learning in Python. Journal of Machine Learning Research, 12, 2825-2830.</a:t>
            </a:r>
          </a:p>
          <a:p>
            <a:pPr>
              <a:spcAft>
                <a:spcPts val="300"/>
              </a:spcAft>
              <a:defRPr sz="950">
                <a:solidFill>
                  <a:srgbClr val="1E293B"/>
                </a:solidFill>
                <a:latin typeface="Calibri"/>
              </a:defRPr>
            </a:pPr>
            <a:r>
              <a:t>9. Tiarks, E., et al. (2021). Explainable Machine Learning for Predictive Policing: Accountability and Interpretability. AI and Law.</a:t>
            </a:r>
          </a:p>
          <a:p>
            <a:pPr>
              <a:spcAft>
                <a:spcPts val="300"/>
              </a:spcAft>
              <a:defRPr sz="950">
                <a:solidFill>
                  <a:srgbClr val="1E293B"/>
                </a:solidFill>
                <a:latin typeface="Calibri"/>
              </a:defRPr>
            </a:pPr>
            <a:r>
              <a:t>10. OpenStreetMap Contributors. (2024). OpenStreetMap Spatial Data &amp; Tiles. https://www.openstreetmap.org</a:t>
            </a:r>
          </a:p>
        </p:txBody>
      </p:sp>
      <p:sp>
        <p:nvSpPr>
          <p:cNvPr id="5" name="Rectangle 4"/>
          <p:cNvSpPr/>
          <p:nvPr/>
        </p:nvSpPr>
        <p:spPr>
          <a:xfrm>
            <a:off x="0" y="4709160"/>
            <a:ext cx="9144000" cy="43891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727448"/>
            <a:ext cx="5943600" cy="365760"/>
          </a:xfrm>
          <a:prstGeom prst="rect">
            <a:avLst/>
          </a:prstGeom>
          <a:noFill/>
        </p:spPr>
        <p:txBody>
          <a:bodyPr wrap="none">
            <a:spAutoFit/>
          </a:bodyPr>
          <a:lstStyle/>
          <a:p>
            <a:pPr>
              <a:defRPr sz="1100">
                <a:solidFill>
                  <a:srgbClr val="FFFFFF"/>
                </a:solidFill>
                <a:latin typeface="Calibri"/>
              </a:defRPr>
            </a:pPr>
            <a:r>
              <a:t>Crime Hotspots Prediction  |  DATAMI  |  Dept. of CSE(AI)</a:t>
            </a:r>
          </a:p>
        </p:txBody>
      </p:sp>
      <p:sp>
        <p:nvSpPr>
          <p:cNvPr id="7" name="TextBox 6"/>
          <p:cNvSpPr txBox="1"/>
          <p:nvPr/>
        </p:nvSpPr>
        <p:spPr>
          <a:xfrm>
            <a:off x="7772400" y="4727448"/>
            <a:ext cx="914400" cy="365760"/>
          </a:xfrm>
          <a:prstGeom prst="rect">
            <a:avLst/>
          </a:prstGeom>
          <a:noFill/>
        </p:spPr>
        <p:txBody>
          <a:bodyPr wrap="none">
            <a:spAutoFit/>
          </a:bodyPr>
          <a:lstStyle/>
          <a:p>
            <a:pPr algn="r">
              <a:defRPr sz="1200" b="1">
                <a:solidFill>
                  <a:srgbClr val="FFFFFF"/>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