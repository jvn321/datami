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We are Group 3 from CSE (Artificial Intelligence): Sam Sunny, Samerath Kumar, John Varghese Nettady, and Shannon George. Our project is titled 'Crime Hotspots Prediction', code-named DATAMI. It addresses municipal public safety across Kochi City and Ernakulam, aligned with UN SDGs 16, 11, and 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roadmap for our presentation. We will walk through the problem statement, alignment with UN SDGs 16, 11, and 9, formal engineering objectives, the 5-step KDD workflow, data warehousing, feature engineering, decision tree modeling, crime spree simulation, evaluation metrics, live geospatial cartography, and academic references.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problem statement focuses on practical, data-driven policing: By analyzing historical crime records across physical station jurisdictions, we identify high-risk areas and predict upcoming crime risk. This empowers police agencies to allocate patrol resources efficiently and prepare for sudden crime surges.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highlights how DATAMI directly advances three United Nations Sustainable Development Goals. Under SDG 16 (Peace and Justice), we provide explainable, auditable decision trees for transparent patrol resource allocation and proactive violence reduction. Under SDG 11 (Sustainable Cities), our geospatial cartography safeguards Kochi's public spaces and tests station resilience under crime surges. Under SDG 9 (Innovation and Infrastructure), we deliver modern, open-source data mining infrastructure without expensive proprietary software locks.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four engineering objectives: First, harvesting real Kerala Police records across 37 stations into a clean relational warehouse. Second, training an explainable CART Decision Tree to classify high-risk hotspots. Third, simulating crime sprees to identify understaffed stations and prove workload reduction. Fourth, delivering a full-stack geospatial WebUI with OpenStreetMap cartography.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outlines the complete data mining workflow implemented in DATAMI across 5 simple steps: Step 1: Harvesting raw portal tables and physical coordinates from official sources. Step 2: Cleaning and normalizing zero counts vs missing years. Step 3: Relational warehousing in SQLite with OLAP roll-up operations. Step 4: Machine learning risk prediction and crime spree surge simulation. Step 5: Interactive geospatial visualization on OpenStreetMap.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7, we explain the data preprocessing steps: Our data is 100% real from Kerala Police portals. We enforced a strict zero-count policy distinguishing true zero crimes from missing years. We harmonized station names and established 3-tier spatial and legal concept hierarchies.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clarifies why raw fact rows show small numbers: each row is a specific crime category. When rolled up to station annual totals, we see realistic volumes: Ernakulam Central registers 1,939 crimes, Town South 1,418, and Palarivattom 1,110. The graph on the right displays the breakdown between IPC offenses and Special &amp; Local Laws.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9, we formulated 5 temporal features. Notice on the right chart that Lag-1 volume and the 2-year rolling average dominate predictions, explaining over 66% of model splits. We used a strict chronological split (2016–2019 train, 2020–2025 test) to ensure zero data leakage.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displays our CART Decision Tree model. Notice the authentic tree on the right: It splits on lag1_cases, rolling_avg, and sll_ratio to classify stations into Higher vs Lower Risk. With a maximum depth of 3, the model is 100% explainable, producing transparent rules that Station House Officers can trust.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details our Crime Spree Surge Simulator: We model how crime surges increase officer caseloads. Under a +50% spree, 12 stations become understaffed. Our system mathematically proves how filling vacancies reduces workload from 45.9 down to 41.6 cases per officer.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reviews our model evaluation metrics: Our Decision Tree achieves 61.1% test accuracy, outperforming both the Zero-R Majority and Persistence baselines. The confusion matrix on the right shows the breakdown of true negatives, true positives, and misclassifications.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translates data mining into actionable policy: Total volume alone does not determine vulnerability—officer caseload ratio does. This allows police leadership to strategically reinforce stations like Town South and Panangad before crime sprees cause operational failure.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shows an authentic screenshot from our working Leaflet Web application. Officers can click any station pin on the map to open the side intelligence drawer, view historical crime trends, inspect 2026 risk predictions, and dynamically toggle crime spree surge scenarios.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justifies each technology selected: Python, FastAPI, and SQLite provide a robust, lightweight backend; scikit-learn delivers explainable CART trees; and React with Leaflet powers our responsive geospatial dashboard.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DATAMI bridges data mining theory and pragmatic law enforcement operations. We achieved 100% authentic data, explainable decision tree rules, and interactive crime spree simulation. Our future work will explore real-time CCTNS webhook integration and diurnal time binning.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academic and official references, covering foundational data mining texts, CART decision trees, state police portals, and peer-reviewed predictive policing literature. Thank you. We are now open for questions and evaluations.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3749039" y="228600"/>
            <a:ext cx="1645920" cy="934843"/>
          </a:xfrm>
          <a:prstGeom prst="rect">
            <a:avLst/>
          </a:prstGeom>
        </p:spPr>
      </p:pic>
      <p:sp>
        <p:nvSpPr>
          <p:cNvPr id="3" name="TextBox 2"/>
          <p:cNvSpPr txBox="1"/>
          <p:nvPr/>
        </p:nvSpPr>
        <p:spPr>
          <a:xfrm>
            <a:off x="548640" y="1280160"/>
            <a:ext cx="8046720" cy="1280160"/>
          </a:xfrm>
          <a:prstGeom prst="rect">
            <a:avLst/>
          </a:prstGeom>
          <a:noFill/>
        </p:spPr>
        <p:txBody>
          <a:bodyPr wrap="square">
            <a:spAutoFit/>
          </a:bodyPr>
          <a:lstStyle/>
          <a:p>
            <a:pPr algn="ctr">
              <a:defRPr sz="2800" b="1">
                <a:solidFill>
                  <a:srgbClr val="CC0000"/>
                </a:solidFill>
                <a:latin typeface="Calibri"/>
              </a:defRPr>
            </a:pPr>
            <a:r>
              <a:t>Crime Hotspots Prediction</a:t>
            </a:r>
          </a:p>
          <a:p>
            <a:pPr algn="ctr">
              <a:defRPr sz="1400" b="1">
                <a:solidFill>
                  <a:srgbClr val="0F172A"/>
                </a:solidFill>
                <a:latin typeface="Calibri"/>
              </a:defRPr>
            </a:pPr>
            <a:r>
              <a:t>DATAMI: Municipal Crime Analytics &amp; Police Station Readiness Platform</a:t>
            </a:r>
          </a:p>
          <a:p>
            <a:pPr algn="ctr">
              <a:defRPr sz="1100">
                <a:solidFill>
                  <a:srgbClr val="64748B"/>
                </a:solidFill>
                <a:latin typeface="Calibri"/>
              </a:defRPr>
            </a:pPr>
            <a:r>
              <a:t>Department of Computer Science &amp; Engineering (Artificial Intelligence)</a:t>
            </a:r>
          </a:p>
        </p:txBody>
      </p:sp>
      <p:sp>
        <p:nvSpPr>
          <p:cNvPr id="4" name="TextBox 3"/>
          <p:cNvSpPr txBox="1"/>
          <p:nvPr/>
        </p:nvSpPr>
        <p:spPr>
          <a:xfrm>
            <a:off x="548640" y="2651760"/>
            <a:ext cx="8046720" cy="365760"/>
          </a:xfrm>
          <a:prstGeom prst="rect">
            <a:avLst/>
          </a:prstGeom>
          <a:noFill/>
        </p:spPr>
        <p:txBody>
          <a:bodyPr wrap="none">
            <a:spAutoFit/>
          </a:bodyPr>
          <a:lstStyle/>
          <a:p>
            <a:pPr algn="ctr">
              <a:defRPr sz="1050" b="1">
                <a:solidFill>
                  <a:srgbClr val="0284C7"/>
                </a:solidFill>
                <a:latin typeface="Calibri"/>
              </a:defRPr>
            </a:pPr>
            <a:r>
              <a:t>Sustainable Development Goals Alignment:  SDG 16 (Peace &amp; Justice)  •  SDG 11 (Sustainable Cities)  •  SDG 9 (Innovation)</a:t>
            </a:r>
          </a:p>
        </p:txBody>
      </p:sp>
      <p:sp>
        <p:nvSpPr>
          <p:cNvPr id="5" name="TextBox 4"/>
          <p:cNvSpPr txBox="1"/>
          <p:nvPr/>
        </p:nvSpPr>
        <p:spPr>
          <a:xfrm>
            <a:off x="914400" y="3154680"/>
            <a:ext cx="4114800" cy="1371600"/>
          </a:xfrm>
          <a:prstGeom prst="rect">
            <a:avLst/>
          </a:prstGeom>
          <a:noFill/>
        </p:spPr>
        <p:txBody>
          <a:bodyPr wrap="none">
            <a:spAutoFit/>
          </a:bodyPr>
          <a:lstStyle/>
          <a:p>
            <a:pPr>
              <a:defRPr sz="1200" b="1">
                <a:solidFill>
                  <a:srgbClr val="CC0000"/>
                </a:solidFill>
                <a:latin typeface="Calibri"/>
              </a:defRPr>
            </a:pPr>
            <a:r>
              <a:t>TEAM MEMBERS (GROUP 3 — CSE-AI)</a:t>
            </a:r>
          </a:p>
          <a:p>
            <a:pPr>
              <a:defRPr sz="1200" b="1">
                <a:solidFill>
                  <a:srgbClr val="0F172A"/>
                </a:solidFill>
                <a:latin typeface="Calibri"/>
              </a:defRPr>
            </a:pPr>
            <a:r>
              <a:t>• Sam Sunny</a:t>
            </a:r>
          </a:p>
          <a:p>
            <a:pPr>
              <a:defRPr sz="1200" b="1">
                <a:solidFill>
                  <a:srgbClr val="0F172A"/>
                </a:solidFill>
                <a:latin typeface="Calibri"/>
              </a:defRPr>
            </a:pPr>
            <a:r>
              <a:t>• Samerath Kumar</a:t>
            </a:r>
          </a:p>
          <a:p>
            <a:pPr>
              <a:defRPr sz="1200" b="1">
                <a:solidFill>
                  <a:srgbClr val="0F172A"/>
                </a:solidFill>
                <a:latin typeface="Calibri"/>
              </a:defRPr>
            </a:pPr>
            <a:r>
              <a:t>• John Varghese Nettady</a:t>
            </a:r>
          </a:p>
          <a:p>
            <a:pPr>
              <a:defRPr sz="1200" b="1">
                <a:solidFill>
                  <a:srgbClr val="0F172A"/>
                </a:solidFill>
                <a:latin typeface="Calibri"/>
              </a:defRPr>
            </a:pPr>
            <a:r>
              <a:t>• Shannon George</a:t>
            </a:r>
          </a:p>
        </p:txBody>
      </p:sp>
      <p:sp>
        <p:nvSpPr>
          <p:cNvPr id="6" name="TextBox 5"/>
          <p:cNvSpPr txBox="1"/>
          <p:nvPr/>
        </p:nvSpPr>
        <p:spPr>
          <a:xfrm>
            <a:off x="5120640" y="3154680"/>
            <a:ext cx="3657600" cy="1371600"/>
          </a:xfrm>
          <a:prstGeom prst="rect">
            <a:avLst/>
          </a:prstGeom>
          <a:noFill/>
        </p:spPr>
        <p:txBody>
          <a:bodyPr wrap="none">
            <a:spAutoFit/>
          </a:bodyPr>
          <a:lstStyle/>
          <a:p>
            <a:pPr>
              <a:defRPr sz="1200" b="1">
                <a:solidFill>
                  <a:srgbClr val="CC0000"/>
                </a:solidFill>
                <a:latin typeface="Calibri"/>
              </a:defRPr>
            </a:pPr>
            <a:r>
              <a:t>PROJECT DETAILS</a:t>
            </a:r>
          </a:p>
          <a:p>
            <a:pPr>
              <a:defRPr sz="1150">
                <a:solidFill>
                  <a:srgbClr val="1E293B"/>
                </a:solidFill>
                <a:latin typeface="Calibri"/>
              </a:defRPr>
            </a:pPr>
            <a:r>
              <a:t>• Course: Data Mining (PECST525)</a:t>
            </a:r>
          </a:p>
          <a:p>
            <a:pPr>
              <a:defRPr sz="1150">
                <a:solidFill>
                  <a:srgbClr val="1E293B"/>
                </a:solidFill>
                <a:latin typeface="Calibri"/>
              </a:defRPr>
            </a:pPr>
            <a:r>
              <a:t>• Branch: B.Tech CSE (Artificial Intelligence)</a:t>
            </a:r>
          </a:p>
          <a:p>
            <a:pPr>
              <a:defRPr sz="1150">
                <a:solidFill>
                  <a:srgbClr val="1E293B"/>
                </a:solidFill>
                <a:latin typeface="Calibri"/>
              </a:defRPr>
            </a:pPr>
            <a:r>
              <a:t>• Target Region: Kochi &amp; Ernakulam (37 PS)</a:t>
            </a:r>
          </a:p>
          <a:p>
            <a:pPr>
              <a:defRPr sz="1150">
                <a:solidFill>
                  <a:srgbClr val="1E293B"/>
                </a:solidFill>
                <a:latin typeface="Calibri"/>
              </a:defRPr>
            </a:pPr>
            <a:r>
              <a:t>• Academic Year: 2026–2027</a:t>
            </a:r>
          </a:p>
        </p:txBody>
      </p:sp>
      <p:sp>
        <p:nvSpPr>
          <p:cNvPr id="7" name="Rectangle 6"/>
          <p:cNvSpPr/>
          <p:nvPr/>
        </p:nvSpPr>
        <p:spPr>
          <a:xfrm>
            <a:off x="0" y="4709160"/>
            <a:ext cx="9144000" cy="43891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4727448"/>
            <a:ext cx="5943600" cy="365760"/>
          </a:xfrm>
          <a:prstGeom prst="rect">
            <a:avLst/>
          </a:prstGeom>
          <a:noFill/>
        </p:spPr>
        <p:txBody>
          <a:bodyPr wrap="none">
            <a:spAutoFit/>
          </a:bodyPr>
          <a:lstStyle/>
          <a:p>
            <a:pPr>
              <a:defRPr sz="1100">
                <a:solidFill>
                  <a:srgbClr val="FFFFFF"/>
                </a:solidFill>
                <a:latin typeface="Calibri"/>
              </a:defRPr>
            </a:pPr>
            <a:r>
              <a:t>Crime Hotspots Prediction  |  DATAMI  |  Dept. of CSE(AI)</a:t>
            </a:r>
          </a:p>
        </p:txBody>
      </p:sp>
      <p:sp>
        <p:nvSpPr>
          <p:cNvPr id="9" name="TextBox 8"/>
          <p:cNvSpPr txBox="1"/>
          <p:nvPr/>
        </p:nvSpPr>
        <p:spPr>
          <a:xfrm>
            <a:off x="7772400" y="4727448"/>
            <a:ext cx="914400" cy="365760"/>
          </a:xfrm>
          <a:prstGeom prst="rect">
            <a:avLst/>
          </a:prstGeom>
          <a:noFill/>
        </p:spPr>
        <p:txBody>
          <a:bodyPr wrap="none">
            <a:spAutoFit/>
          </a:bodyPr>
          <a:lstStyle/>
          <a:p>
            <a:pPr algn="r">
              <a:defRPr sz="1200" b="1">
                <a:solidFill>
                  <a:srgbClr val="FFFFFF"/>
                </a:solidFill>
                <a:latin typeface="Calibri"/>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7818120" y="164592"/>
            <a:ext cx="1005840" cy="571293"/>
          </a:xfrm>
          <a:prstGeom prst="rect">
            <a:avLst/>
          </a:prstGeom>
        </p:spPr>
      </p:pic>
      <p:sp>
        <p:nvSpPr>
          <p:cNvPr id="3" name="TextBox 2"/>
          <p:cNvSpPr txBox="1"/>
          <p:nvPr/>
        </p:nvSpPr>
        <p:spPr>
          <a:xfrm>
            <a:off x="548640" y="320040"/>
            <a:ext cx="7132320" cy="685800"/>
          </a:xfrm>
          <a:prstGeom prst="rect">
            <a:avLst/>
          </a:prstGeom>
          <a:noFill/>
        </p:spPr>
        <p:txBody>
          <a:bodyPr wrap="square">
            <a:spAutoFit/>
          </a:bodyPr>
          <a:lstStyle/>
          <a:p>
            <a:pPr>
              <a:defRPr sz="2300" b="1">
                <a:solidFill>
                  <a:srgbClr val="0F172A"/>
                </a:solidFill>
                <a:latin typeface="Calibri"/>
              </a:defRPr>
            </a:pPr>
            <a:r>
              <a:t>Contents &amp; Presentation Roadmap</a:t>
            </a:r>
          </a:p>
          <a:p>
            <a:pPr>
              <a:defRPr sz="1100" b="1">
                <a:solidFill>
                  <a:srgbClr val="CC0000"/>
                </a:solidFill>
                <a:latin typeface="Calibri"/>
              </a:defRPr>
            </a:pPr>
            <a:r>
              <a:t>AGENDA FOR PRESENTATION</a:t>
            </a:r>
          </a:p>
        </p:txBody>
      </p:sp>
      <p:sp>
        <p:nvSpPr>
          <p:cNvPr id="4" name="TextBox 3"/>
          <p:cNvSpPr txBox="1"/>
          <p:nvPr/>
        </p:nvSpPr>
        <p:spPr>
          <a:xfrm>
            <a:off x="731520" y="1188720"/>
            <a:ext cx="3931920" cy="3291840"/>
          </a:xfrm>
          <a:prstGeom prst="rect">
            <a:avLst/>
          </a:prstGeom>
          <a:noFill/>
        </p:spPr>
        <p:txBody>
          <a:bodyPr wrap="none">
            <a:spAutoFit/>
          </a:bodyPr>
          <a:lstStyle/>
          <a:p>
            <a:pPr>
              <a:spcAft>
                <a:spcPts val="700"/>
              </a:spcAft>
              <a:defRPr sz="1250" b="1">
                <a:solidFill>
                  <a:srgbClr val="0F172A"/>
                </a:solidFill>
                <a:latin typeface="Calibri"/>
              </a:defRPr>
            </a:pPr>
            <a:r>
              <a:t>01. Problem Statement &amp; Motivation</a:t>
            </a:r>
          </a:p>
          <a:p>
            <a:pPr>
              <a:spcAft>
                <a:spcPts val="700"/>
              </a:spcAft>
              <a:defRPr sz="1250" b="1">
                <a:solidFill>
                  <a:srgbClr val="0F172A"/>
                </a:solidFill>
                <a:latin typeface="Calibri"/>
              </a:defRPr>
            </a:pPr>
            <a:r>
              <a:t>02. UN Sustainable Development Goals (SDGs)</a:t>
            </a:r>
          </a:p>
          <a:p>
            <a:pPr>
              <a:spcAft>
                <a:spcPts val="700"/>
              </a:spcAft>
              <a:defRPr sz="1250" b="1">
                <a:solidFill>
                  <a:srgbClr val="0F172A"/>
                </a:solidFill>
                <a:latin typeface="Calibri"/>
              </a:defRPr>
            </a:pPr>
            <a:r>
              <a:t>03. Project Objectives</a:t>
            </a:r>
          </a:p>
          <a:p>
            <a:pPr>
              <a:spcAft>
                <a:spcPts val="700"/>
              </a:spcAft>
              <a:defRPr sz="1250" b="1">
                <a:solidFill>
                  <a:srgbClr val="0F172A"/>
                </a:solidFill>
                <a:latin typeface="Calibri"/>
              </a:defRPr>
            </a:pPr>
            <a:r>
              <a:t>04. End-to-End Processing Workflow</a:t>
            </a:r>
          </a:p>
          <a:p>
            <a:pPr>
              <a:spcAft>
                <a:spcPts val="700"/>
              </a:spcAft>
              <a:defRPr sz="1250" b="1">
                <a:solidFill>
                  <a:srgbClr val="0F172A"/>
                </a:solidFill>
                <a:latin typeface="Calibri"/>
              </a:defRPr>
            </a:pPr>
            <a:r>
              <a:t>05. Data Extraction &amp; Preprocessing</a:t>
            </a:r>
          </a:p>
          <a:p>
            <a:pPr>
              <a:spcAft>
                <a:spcPts val="700"/>
              </a:spcAft>
              <a:defRPr sz="1250" b="1">
                <a:solidFill>
                  <a:srgbClr val="0F172A"/>
                </a:solidFill>
                <a:latin typeface="Calibri"/>
              </a:defRPr>
            </a:pPr>
            <a:r>
              <a:t>06. Multidimensional OLAP Warehousing</a:t>
            </a:r>
          </a:p>
          <a:p>
            <a:pPr>
              <a:spcAft>
                <a:spcPts val="700"/>
              </a:spcAft>
              <a:defRPr sz="1250" b="1">
                <a:solidFill>
                  <a:srgbClr val="0F172A"/>
                </a:solidFill>
                <a:latin typeface="Calibri"/>
              </a:defRPr>
            </a:pPr>
            <a:r>
              <a:t>07. Feature Engineering &amp; Importance</a:t>
            </a:r>
          </a:p>
          <a:p>
            <a:pPr>
              <a:spcAft>
                <a:spcPts val="700"/>
              </a:spcAft>
              <a:defRPr sz="1250" b="1">
                <a:solidFill>
                  <a:srgbClr val="0F172A"/>
                </a:solidFill>
                <a:latin typeface="Calibri"/>
              </a:defRPr>
            </a:pPr>
            <a:r>
              <a:t>08. CART Decision Tree Induction</a:t>
            </a:r>
          </a:p>
        </p:txBody>
      </p:sp>
      <p:sp>
        <p:nvSpPr>
          <p:cNvPr id="5" name="TextBox 4"/>
          <p:cNvSpPr txBox="1"/>
          <p:nvPr/>
        </p:nvSpPr>
        <p:spPr>
          <a:xfrm>
            <a:off x="4846320" y="1188720"/>
            <a:ext cx="4023360" cy="3291840"/>
          </a:xfrm>
          <a:prstGeom prst="rect">
            <a:avLst/>
          </a:prstGeom>
          <a:noFill/>
        </p:spPr>
        <p:txBody>
          <a:bodyPr wrap="none">
            <a:spAutoFit/>
          </a:bodyPr>
          <a:lstStyle/>
          <a:p>
            <a:pPr>
              <a:spcAft>
                <a:spcPts val="700"/>
              </a:spcAft>
              <a:defRPr sz="1250" b="1">
                <a:solidFill>
                  <a:srgbClr val="0F172A"/>
                </a:solidFill>
                <a:latin typeface="Calibri"/>
              </a:defRPr>
            </a:pPr>
            <a:r>
              <a:t>09. Crime Spree &amp; Staffing Simulator</a:t>
            </a:r>
          </a:p>
          <a:p>
            <a:pPr>
              <a:spcAft>
                <a:spcPts val="700"/>
              </a:spcAft>
              <a:defRPr sz="1250" b="1">
                <a:solidFill>
                  <a:srgbClr val="0F172A"/>
                </a:solidFill>
                <a:latin typeface="Calibri"/>
              </a:defRPr>
            </a:pPr>
            <a:r>
              <a:t>10. Model Evaluation &amp; Confusion Matrix</a:t>
            </a:r>
          </a:p>
          <a:p>
            <a:pPr>
              <a:spcAft>
                <a:spcPts val="700"/>
              </a:spcAft>
              <a:defRPr sz="1250" b="1">
                <a:solidFill>
                  <a:srgbClr val="0F172A"/>
                </a:solidFill>
                <a:latin typeface="Calibri"/>
              </a:defRPr>
            </a:pPr>
            <a:r>
              <a:t>11. Operational Findings &amp; Policy Impact</a:t>
            </a:r>
          </a:p>
          <a:p>
            <a:pPr>
              <a:spcAft>
                <a:spcPts val="700"/>
              </a:spcAft>
              <a:defRPr sz="1250" b="1">
                <a:solidFill>
                  <a:srgbClr val="0F172A"/>
                </a:solidFill>
                <a:latin typeface="Calibri"/>
              </a:defRPr>
            </a:pPr>
            <a:r>
              <a:t>12. Live Geospatial Interface &amp; Cartography</a:t>
            </a:r>
          </a:p>
          <a:p>
            <a:pPr>
              <a:spcAft>
                <a:spcPts val="700"/>
              </a:spcAft>
              <a:defRPr sz="1250" b="1">
                <a:solidFill>
                  <a:srgbClr val="0F172A"/>
                </a:solidFill>
                <a:latin typeface="Calibri"/>
              </a:defRPr>
            </a:pPr>
            <a:r>
              <a:t>13. Technology Stack &amp; Justifications</a:t>
            </a:r>
          </a:p>
          <a:p>
            <a:pPr>
              <a:spcAft>
                <a:spcPts val="700"/>
              </a:spcAft>
              <a:defRPr sz="1250" b="1">
                <a:solidFill>
                  <a:srgbClr val="0F172A"/>
                </a:solidFill>
                <a:latin typeface="Calibri"/>
              </a:defRPr>
            </a:pPr>
            <a:r>
              <a:t>14. Conclusion &amp; Future Scope</a:t>
            </a:r>
          </a:p>
          <a:p>
            <a:pPr>
              <a:spcAft>
                <a:spcPts val="700"/>
              </a:spcAft>
              <a:defRPr sz="1250" b="1">
                <a:solidFill>
                  <a:srgbClr val="0F172A"/>
                </a:solidFill>
                <a:latin typeface="Calibri"/>
              </a:defRPr>
            </a:pPr>
            <a:r>
              <a:t>15. Academic &amp; Official References</a:t>
            </a:r>
          </a:p>
        </p:txBody>
      </p:sp>
      <p:sp>
        <p:nvSpPr>
          <p:cNvPr id="6" name="Rectangle 5"/>
          <p:cNvSpPr/>
          <p:nvPr/>
        </p:nvSpPr>
        <p:spPr>
          <a:xfrm>
            <a:off x="0" y="4709160"/>
            <a:ext cx="9144000" cy="43891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727448"/>
            <a:ext cx="5943600" cy="365760"/>
          </a:xfrm>
          <a:prstGeom prst="rect">
            <a:avLst/>
          </a:prstGeom>
          <a:noFill/>
        </p:spPr>
        <p:txBody>
          <a:bodyPr wrap="none">
            <a:spAutoFit/>
          </a:bodyPr>
          <a:lstStyle/>
          <a:p>
            <a:pPr>
              <a:defRPr sz="1100">
                <a:solidFill>
                  <a:srgbClr val="FFFFFF"/>
                </a:solidFill>
                <a:latin typeface="Calibri"/>
              </a:defRPr>
            </a:pPr>
            <a:r>
              <a:t>Crime Hotspots Prediction  |  DATAMI  |  Dept. of CSE(AI)</a:t>
            </a:r>
          </a:p>
        </p:txBody>
      </p:sp>
      <p:sp>
        <p:nvSpPr>
          <p:cNvPr id="8" name="TextBox 7"/>
          <p:cNvSpPr txBox="1"/>
          <p:nvPr/>
        </p:nvSpPr>
        <p:spPr>
          <a:xfrm>
            <a:off x="7772400" y="4727448"/>
            <a:ext cx="914400" cy="365760"/>
          </a:xfrm>
          <a:prstGeom prst="rect">
            <a:avLst/>
          </a:prstGeom>
          <a:noFill/>
        </p:spPr>
        <p:txBody>
          <a:bodyPr wrap="none">
            <a:spAutoFit/>
          </a:bodyPr>
          <a:lstStyle/>
          <a:p>
            <a:pPr algn="r">
              <a:defRPr sz="1200" b="1">
                <a:solidFill>
                  <a:srgbClr val="FFFFFF"/>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7818120" y="164592"/>
            <a:ext cx="1005840" cy="571293"/>
          </a:xfrm>
          <a:prstGeom prst="rect">
            <a:avLst/>
          </a:prstGeom>
        </p:spPr>
      </p:pic>
      <p:sp>
        <p:nvSpPr>
          <p:cNvPr id="3" name="TextBox 2"/>
          <p:cNvSpPr txBox="1"/>
          <p:nvPr/>
        </p:nvSpPr>
        <p:spPr>
          <a:xfrm>
            <a:off x="548640" y="320040"/>
            <a:ext cx="7132320" cy="685800"/>
          </a:xfrm>
          <a:prstGeom prst="rect">
            <a:avLst/>
          </a:prstGeom>
          <a:noFill/>
        </p:spPr>
        <p:txBody>
          <a:bodyPr wrap="square">
            <a:spAutoFit/>
          </a:bodyPr>
          <a:lstStyle/>
          <a:p>
            <a:pPr>
              <a:defRPr sz="2300" b="1">
                <a:solidFill>
                  <a:srgbClr val="0F172A"/>
                </a:solidFill>
                <a:latin typeface="Calibri"/>
              </a:defRPr>
            </a:pPr>
            <a:r>
              <a:t>Problem Statement</a:t>
            </a:r>
          </a:p>
          <a:p>
            <a:pPr>
              <a:defRPr sz="1100" b="1">
                <a:solidFill>
                  <a:srgbClr val="CC0000"/>
                </a:solidFill>
                <a:latin typeface="Calibri"/>
              </a:defRPr>
            </a:pPr>
            <a:r>
              <a:t>DATA MINING MOTIVATION &amp; PUBLIC SAFETY GOAL</a:t>
            </a:r>
          </a:p>
        </p:txBody>
      </p:sp>
      <p:sp>
        <p:nvSpPr>
          <p:cNvPr id="4" name="TextBox 3"/>
          <p:cNvSpPr txBox="1"/>
          <p:nvPr/>
        </p:nvSpPr>
        <p:spPr>
          <a:xfrm>
            <a:off x="731520" y="1143000"/>
            <a:ext cx="7680960" cy="3291840"/>
          </a:xfrm>
          <a:prstGeom prst="rect">
            <a:avLst/>
          </a:prstGeom>
          <a:noFill/>
        </p:spPr>
        <p:txBody>
          <a:bodyPr wrap="square">
            <a:spAutoFit/>
          </a:bodyPr>
          <a:lstStyle/>
          <a:p>
            <a:pPr>
              <a:lnSpc>
                <a:spcPct val="130000"/>
              </a:lnSpc>
              <a:defRPr sz="1400">
                <a:solidFill>
                  <a:srgbClr val="1E293B"/>
                </a:solidFill>
                <a:latin typeface="Calibri"/>
              </a:defRPr>
            </a:pPr>
            <a:r>
              <a:t>“Crime hotspot prediction aims to develop a data mining system that analyzes historical crime records, including the type of crime, location, date, and time, to identify patterns and predict areas where crimes are most likely to occur in the future.</a:t>
            </a:r>
            <a:br/>
            <a:br/>
            <a:r>
              <a:t>By detecting high-risk locations and time periods, the system helps law enforcement agencies allocate resources efficiently, plan preventive patrols, and take proactive measures to reduce crime, ultimately improving public safety through data-driven decision-making.”</a:t>
            </a:r>
          </a:p>
          <a:p>
            <a:pPr>
              <a:spcBef>
                <a:spcPts val="1400"/>
              </a:spcBef>
              <a:defRPr sz="1400" b="1">
                <a:solidFill>
                  <a:srgbClr val="CC0000"/>
                </a:solidFill>
                <a:latin typeface="Calibri"/>
              </a:defRPr>
            </a:pPr>
            <a:r>
              <a:t>Key Operational Challenges Addressed:</a:t>
            </a:r>
          </a:p>
          <a:p>
            <a:pPr>
              <a:spcBef>
                <a:spcPts val="400"/>
              </a:spcBef>
              <a:defRPr sz="1250">
                <a:solidFill>
                  <a:srgbClr val="0F172A"/>
                </a:solidFill>
                <a:latin typeface="Calibri"/>
              </a:defRPr>
            </a:pPr>
            <a:r>
              <a:t>• Unstructured Portal Data: Police records are siloed in unstructured state portal tables without spatial geocoding.</a:t>
            </a:r>
          </a:p>
          <a:p>
            <a:pPr>
              <a:spcBef>
                <a:spcPts val="400"/>
              </a:spcBef>
              <a:defRPr sz="1250">
                <a:solidFill>
                  <a:srgbClr val="0F172A"/>
                </a:solidFill>
                <a:latin typeface="Calibri"/>
              </a:defRPr>
            </a:pPr>
            <a:r>
              <a:t>• Explainability Imperative: Police officers need transparent, legally auditable if-then rules, not opaque black-boxes.</a:t>
            </a:r>
          </a:p>
          <a:p>
            <a:pPr>
              <a:spcBef>
                <a:spcPts val="400"/>
              </a:spcBef>
              <a:defRPr sz="1250">
                <a:solidFill>
                  <a:srgbClr val="0F172A"/>
                </a:solidFill>
                <a:latin typeface="Calibri"/>
              </a:defRPr>
            </a:pPr>
            <a:r>
              <a:t>• Staffing &amp; Crime Surge Vulnerability: High-volume stations risk operational breakdown when sudden crime sprees occur without reserve mobilization.</a:t>
            </a:r>
          </a:p>
        </p:txBody>
      </p:sp>
      <p:sp>
        <p:nvSpPr>
          <p:cNvPr id="5" name="Rectangle 4"/>
          <p:cNvSpPr/>
          <p:nvPr/>
        </p:nvSpPr>
        <p:spPr>
          <a:xfrm>
            <a:off x="0" y="4709160"/>
            <a:ext cx="9144000" cy="43891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727448"/>
            <a:ext cx="5943600" cy="365760"/>
          </a:xfrm>
          <a:prstGeom prst="rect">
            <a:avLst/>
          </a:prstGeom>
          <a:noFill/>
        </p:spPr>
        <p:txBody>
          <a:bodyPr wrap="none">
            <a:spAutoFit/>
          </a:bodyPr>
          <a:lstStyle/>
          <a:p>
            <a:pPr>
              <a:defRPr sz="1100">
                <a:solidFill>
                  <a:srgbClr val="FFFFFF"/>
                </a:solidFill>
                <a:latin typeface="Calibri"/>
              </a:defRPr>
            </a:pPr>
            <a:r>
              <a:t>Crime Hotspots Prediction  |  DATAMI  |  Dept. of CSE(AI)</a:t>
            </a:r>
          </a:p>
        </p:txBody>
      </p:sp>
      <p:sp>
        <p:nvSpPr>
          <p:cNvPr id="7" name="TextBox 6"/>
          <p:cNvSpPr txBox="1"/>
          <p:nvPr/>
        </p:nvSpPr>
        <p:spPr>
          <a:xfrm>
            <a:off x="7772400" y="4727448"/>
            <a:ext cx="914400" cy="365760"/>
          </a:xfrm>
          <a:prstGeom prst="rect">
            <a:avLst/>
          </a:prstGeom>
          <a:noFill/>
        </p:spPr>
        <p:txBody>
          <a:bodyPr wrap="none">
            <a:spAutoFit/>
          </a:bodyPr>
          <a:lstStyle/>
          <a:p>
            <a:pPr algn="r">
              <a:defRPr sz="1200" b="1">
                <a:solidFill>
                  <a:srgbClr val="FFFFFF"/>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7818120" y="164592"/>
            <a:ext cx="1005840" cy="571293"/>
          </a:xfrm>
          <a:prstGeom prst="rect">
            <a:avLst/>
          </a:prstGeom>
        </p:spPr>
      </p:pic>
      <p:sp>
        <p:nvSpPr>
          <p:cNvPr id="3" name="TextBox 2"/>
          <p:cNvSpPr txBox="1"/>
          <p:nvPr/>
        </p:nvSpPr>
        <p:spPr>
          <a:xfrm>
            <a:off x="548640" y="320040"/>
            <a:ext cx="7132320" cy="685800"/>
          </a:xfrm>
          <a:prstGeom prst="rect">
            <a:avLst/>
          </a:prstGeom>
          <a:noFill/>
        </p:spPr>
        <p:txBody>
          <a:bodyPr wrap="square">
            <a:spAutoFit/>
          </a:bodyPr>
          <a:lstStyle/>
          <a:p>
            <a:pPr>
              <a:defRPr sz="2300" b="1">
                <a:solidFill>
                  <a:srgbClr val="0F172A"/>
                </a:solidFill>
                <a:latin typeface="Calibri"/>
              </a:defRPr>
            </a:pPr>
            <a:r>
              <a:t>Alignment with Sustainable Development Goals</a:t>
            </a:r>
          </a:p>
          <a:p>
            <a:pPr>
              <a:defRPr sz="1100" b="1">
                <a:solidFill>
                  <a:srgbClr val="CC0000"/>
                </a:solidFill>
                <a:latin typeface="Calibri"/>
              </a:defRPr>
            </a:pPr>
            <a:r>
              <a:t>UNITED NATIONS 2030 AGENDA — SDG 16, SDG 11 &amp; SDG 9</a:t>
            </a:r>
          </a:p>
        </p:txBody>
      </p:sp>
      <p:sp>
        <p:nvSpPr>
          <p:cNvPr id="4" name="TextBox 3"/>
          <p:cNvSpPr txBox="1"/>
          <p:nvPr/>
        </p:nvSpPr>
        <p:spPr>
          <a:xfrm>
            <a:off x="731520" y="1097280"/>
            <a:ext cx="7680960" cy="3383280"/>
          </a:xfrm>
          <a:prstGeom prst="rect">
            <a:avLst/>
          </a:prstGeom>
          <a:noFill/>
        </p:spPr>
        <p:txBody>
          <a:bodyPr wrap="square">
            <a:spAutoFit/>
          </a:bodyPr>
          <a:lstStyle/>
          <a:p>
            <a:pPr>
              <a:spcBef>
                <a:spcPts val="0"/>
              </a:spcBef>
              <a:defRPr sz="1300" b="1">
                <a:solidFill>
                  <a:srgbClr val="0284C7"/>
                </a:solidFill>
                <a:latin typeface="Calibri"/>
              </a:defRPr>
            </a:pPr>
            <a:r>
              <a:t>SDG 16: Peace, Justice &amp; Strong Institutions (Targets 16.1 &amp; 16.6)</a:t>
            </a:r>
          </a:p>
          <a:p>
            <a:pPr>
              <a:spcBef>
                <a:spcPts val="100"/>
              </a:spcBef>
              <a:defRPr sz="1000" i="1">
                <a:solidFill>
                  <a:srgbClr val="64748B"/>
                </a:solidFill>
                <a:latin typeface="Calibri"/>
              </a:defRPr>
            </a:pPr>
            <a:r>
              <a:t>Core Target: Significantly reduce all forms of violence; develop effective, accountable and transparent public institutions.</a:t>
            </a:r>
          </a:p>
          <a:p>
            <a:pPr>
              <a:spcBef>
                <a:spcPts val="200"/>
              </a:spcBef>
              <a:defRPr sz="1100">
                <a:solidFill>
                  <a:srgbClr val="1E293B"/>
                </a:solidFill>
                <a:latin typeface="Calibri"/>
              </a:defRPr>
            </a:pPr>
            <a:r>
              <a:t>• Transparent Patrol Resource Allocation: Replaces subjective dispatching with empirical, explainable CART Decision Tree rules that Station House Officers can legally audit and justify.</a:t>
            </a:r>
          </a:p>
          <a:p>
            <a:pPr>
              <a:spcBef>
                <a:spcPts val="200"/>
              </a:spcBef>
              <a:defRPr sz="1100">
                <a:solidFill>
                  <a:srgbClr val="1E293B"/>
                </a:solidFill>
                <a:latin typeface="Calibri"/>
              </a:defRPr>
            </a:pPr>
            <a:r>
              <a:t>• Proactive Crime Prevention: Identifies emerging high-risk jurisdictions in advance, allowing preventive patrols to de-escalate violence before incidents occur.</a:t>
            </a:r>
          </a:p>
          <a:p>
            <a:pPr>
              <a:spcBef>
                <a:spcPts val="800"/>
              </a:spcBef>
              <a:defRPr sz="1300" b="1">
                <a:solidFill>
                  <a:srgbClr val="D97706"/>
                </a:solidFill>
                <a:latin typeface="Calibri"/>
              </a:defRPr>
            </a:pPr>
            <a:r>
              <a:t>SDG 11: Sustainable Cities &amp; Communities (Target 11.7)</a:t>
            </a:r>
          </a:p>
          <a:p>
            <a:pPr>
              <a:spcBef>
                <a:spcPts val="100"/>
              </a:spcBef>
              <a:defRPr sz="1000" i="1">
                <a:solidFill>
                  <a:srgbClr val="64748B"/>
                </a:solidFill>
                <a:latin typeface="Calibri"/>
              </a:defRPr>
            </a:pPr>
            <a:r>
              <a:t>Core Target: Provide universal access to safe, inclusive and accessible green and public spaces for all citizens.</a:t>
            </a:r>
          </a:p>
          <a:p>
            <a:pPr>
              <a:spcBef>
                <a:spcPts val="200"/>
              </a:spcBef>
              <a:defRPr sz="1100">
                <a:solidFill>
                  <a:srgbClr val="1E293B"/>
                </a:solidFill>
                <a:latin typeface="Calibri"/>
              </a:defRPr>
            </a:pPr>
            <a:r>
              <a:t>• Metropolitan Cartography &amp; Hotspot Mitigation: Maps crime density across 37 stations in Kochi to safeguard commercial corridors, transit hubs, and waterfront spaces (MG Road, Marine Drive).</a:t>
            </a:r>
          </a:p>
          <a:p>
            <a:pPr>
              <a:spcBef>
                <a:spcPts val="200"/>
              </a:spcBef>
              <a:defRPr sz="1100">
                <a:solidFill>
                  <a:srgbClr val="1E293B"/>
                </a:solidFill>
                <a:latin typeface="Calibri"/>
              </a:defRPr>
            </a:pPr>
            <a:r>
              <a:t>• Surge Resilience for Urban Security: Simulates fleet readiness during sudden crime sprees, ensuring municipal police stations maintain emergency response capacity.</a:t>
            </a:r>
          </a:p>
          <a:p>
            <a:pPr>
              <a:spcBef>
                <a:spcPts val="800"/>
              </a:spcBef>
              <a:defRPr sz="1300" b="1">
                <a:solidFill>
                  <a:srgbClr val="059669"/>
                </a:solidFill>
                <a:latin typeface="Calibri"/>
              </a:defRPr>
            </a:pPr>
            <a:r>
              <a:t>SDG 9: Industry, Innovation &amp; Infrastructure (Target 9.b)</a:t>
            </a:r>
          </a:p>
          <a:p>
            <a:pPr>
              <a:spcBef>
                <a:spcPts val="100"/>
              </a:spcBef>
              <a:defRPr sz="1000" i="1">
                <a:solidFill>
                  <a:srgbClr val="64748B"/>
                </a:solidFill>
                <a:latin typeface="Calibri"/>
              </a:defRPr>
            </a:pPr>
            <a:r>
              <a:t>Core Target: Support domestic technology development, research and innovation in public infrastructure.</a:t>
            </a:r>
          </a:p>
          <a:p>
            <a:pPr>
              <a:spcBef>
                <a:spcPts val="200"/>
              </a:spcBef>
              <a:defRPr sz="1100">
                <a:solidFill>
                  <a:srgbClr val="1E293B"/>
                </a:solidFill>
                <a:latin typeface="Calibri"/>
              </a:defRPr>
            </a:pPr>
            <a:r>
              <a:t>• Open-Source Public Safety Infrastructure: Modernizes police data systems using reproducible open technologies (FastAPI, Leaflet OSM, Scikit-Learn OLAP) with zero licensing costs.</a:t>
            </a:r>
          </a:p>
          <a:p>
            <a:pPr>
              <a:spcBef>
                <a:spcPts val="200"/>
              </a:spcBef>
              <a:defRPr sz="1100">
                <a:solidFill>
                  <a:srgbClr val="1E293B"/>
                </a:solidFill>
                <a:latin typeface="Calibri"/>
              </a:defRPr>
            </a:pPr>
            <a:r>
              <a:t>• Data-Driven Institutional Transformation: Converts passive, siloed portal tables into active predictive intelligence, democratizing advanced analytics for state law enforcement.</a:t>
            </a:r>
          </a:p>
        </p:txBody>
      </p:sp>
      <p:sp>
        <p:nvSpPr>
          <p:cNvPr id="5" name="Rectangle 4"/>
          <p:cNvSpPr/>
          <p:nvPr/>
        </p:nvSpPr>
        <p:spPr>
          <a:xfrm>
            <a:off x="0" y="4709160"/>
            <a:ext cx="9144000" cy="43891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727448"/>
            <a:ext cx="5943600" cy="365760"/>
          </a:xfrm>
          <a:prstGeom prst="rect">
            <a:avLst/>
          </a:prstGeom>
          <a:noFill/>
        </p:spPr>
        <p:txBody>
          <a:bodyPr wrap="none">
            <a:spAutoFit/>
          </a:bodyPr>
          <a:lstStyle/>
          <a:p>
            <a:pPr>
              <a:defRPr sz="1100">
                <a:solidFill>
                  <a:srgbClr val="FFFFFF"/>
                </a:solidFill>
                <a:latin typeface="Calibri"/>
              </a:defRPr>
            </a:pPr>
            <a:r>
              <a:t>Crime Hotspots Prediction  |  DATAMI  |  Dept. of CSE(AI)</a:t>
            </a:r>
          </a:p>
        </p:txBody>
      </p:sp>
      <p:sp>
        <p:nvSpPr>
          <p:cNvPr id="7" name="TextBox 6"/>
          <p:cNvSpPr txBox="1"/>
          <p:nvPr/>
        </p:nvSpPr>
        <p:spPr>
          <a:xfrm>
            <a:off x="7772400" y="4727448"/>
            <a:ext cx="914400" cy="365760"/>
          </a:xfrm>
          <a:prstGeom prst="rect">
            <a:avLst/>
          </a:prstGeom>
          <a:noFill/>
        </p:spPr>
        <p:txBody>
          <a:bodyPr wrap="none">
            <a:spAutoFit/>
          </a:bodyPr>
          <a:lstStyle/>
          <a:p>
            <a:pPr algn="r">
              <a:defRPr sz="1200" b="1">
                <a:solidFill>
                  <a:srgbClr val="FFFFFF"/>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7818120" y="164592"/>
            <a:ext cx="1005840" cy="571293"/>
          </a:xfrm>
          <a:prstGeom prst="rect">
            <a:avLst/>
          </a:prstGeom>
        </p:spPr>
      </p:pic>
      <p:sp>
        <p:nvSpPr>
          <p:cNvPr id="3" name="TextBox 2"/>
          <p:cNvSpPr txBox="1"/>
          <p:nvPr/>
        </p:nvSpPr>
        <p:spPr>
          <a:xfrm>
            <a:off x="548640" y="320040"/>
            <a:ext cx="7132320" cy="685800"/>
          </a:xfrm>
          <a:prstGeom prst="rect">
            <a:avLst/>
          </a:prstGeom>
          <a:noFill/>
        </p:spPr>
        <p:txBody>
          <a:bodyPr wrap="square">
            <a:spAutoFit/>
          </a:bodyPr>
          <a:lstStyle/>
          <a:p>
            <a:pPr>
              <a:defRPr sz="2300" b="1">
                <a:solidFill>
                  <a:srgbClr val="0F172A"/>
                </a:solidFill>
                <a:latin typeface="Calibri"/>
              </a:defRPr>
            </a:pPr>
            <a:r>
              <a:t>Project Objectives</a:t>
            </a:r>
          </a:p>
          <a:p>
            <a:pPr>
              <a:defRPr sz="1100" b="1">
                <a:solidFill>
                  <a:srgbClr val="CC0000"/>
                </a:solidFill>
                <a:latin typeface="Calibri"/>
              </a:defRPr>
            </a:pPr>
            <a:r>
              <a:t>FORMAL ENGINEERING GOALS</a:t>
            </a:r>
          </a:p>
        </p:txBody>
      </p:sp>
      <p:sp>
        <p:nvSpPr>
          <p:cNvPr id="4" name="TextBox 3"/>
          <p:cNvSpPr txBox="1"/>
          <p:nvPr/>
        </p:nvSpPr>
        <p:spPr>
          <a:xfrm>
            <a:off x="731520" y="1143000"/>
            <a:ext cx="7680960" cy="3291840"/>
          </a:xfrm>
          <a:prstGeom prst="rect">
            <a:avLst/>
          </a:prstGeom>
          <a:noFill/>
        </p:spPr>
        <p:txBody>
          <a:bodyPr wrap="square">
            <a:spAutoFit/>
          </a:bodyPr>
          <a:lstStyle/>
          <a:p>
            <a:pPr>
              <a:spcBef>
                <a:spcPts val="0"/>
              </a:spcBef>
              <a:defRPr sz="1400" b="1">
                <a:solidFill>
                  <a:srgbClr val="CC0000"/>
                </a:solidFill>
                <a:latin typeface="Calibri"/>
              </a:defRPr>
            </a:pPr>
            <a:r>
              <a:t>1. Data Harvesting &amp; Relational Warehousing</a:t>
            </a:r>
          </a:p>
          <a:p>
            <a:pPr>
              <a:spcBef>
                <a:spcPts val="200"/>
              </a:spcBef>
              <a:defRPr sz="1200">
                <a:solidFill>
                  <a:srgbClr val="1E293B"/>
                </a:solidFill>
                <a:latin typeface="Calibri"/>
              </a:defRPr>
            </a:pPr>
            <a:r>
              <a:t>Acquire, clean, and warehouse 10+ years (2014–2023) of real historical crime records, coordinates, and staff data across 37 police stations from official Kerala Police portals with 100% traceability and zero synthetic fabrication.</a:t>
            </a:r>
          </a:p>
          <a:p>
            <a:pPr>
              <a:spcBef>
                <a:spcPts val="800"/>
              </a:spcBef>
              <a:defRPr sz="1400" b="1">
                <a:solidFill>
                  <a:srgbClr val="CC0000"/>
                </a:solidFill>
                <a:latin typeface="Calibri"/>
              </a:defRPr>
            </a:pPr>
            <a:r>
              <a:t>2. Explainable Crime Hotspot Classification</a:t>
            </a:r>
          </a:p>
          <a:p>
            <a:pPr>
              <a:spcBef>
                <a:spcPts val="200"/>
              </a:spcBef>
              <a:defRPr sz="1200">
                <a:solidFill>
                  <a:srgbClr val="1E293B"/>
                </a:solidFill>
                <a:latin typeface="Calibri"/>
              </a:defRPr>
            </a:pPr>
            <a:r>
              <a:t>Induce an explainable CART Decision Tree classifier with Gini Impurity (max depth = 3) to predict whether police stations will face Higher or Lower Relative Risk, evaluated strictly out-of-time (2020–2025) with zero data leakage.</a:t>
            </a:r>
          </a:p>
          <a:p>
            <a:pPr>
              <a:spcBef>
                <a:spcPts val="800"/>
              </a:spcBef>
              <a:defRPr sz="1400" b="1">
                <a:solidFill>
                  <a:srgbClr val="CC0000"/>
                </a:solidFill>
                <a:latin typeface="Calibri"/>
              </a:defRPr>
            </a:pPr>
            <a:r>
              <a:t>3. Crime Spree Surge &amp; Staffing Simulation</a:t>
            </a:r>
          </a:p>
          <a:p>
            <a:pPr>
              <a:spcBef>
                <a:spcPts val="200"/>
              </a:spcBef>
              <a:defRPr sz="1200">
                <a:solidFill>
                  <a:srgbClr val="1E293B"/>
                </a:solidFill>
                <a:latin typeface="Calibri"/>
              </a:defRPr>
            </a:pPr>
            <a:r>
              <a:t>Develop a configurable operational simulation model that tests station capacity against simulated crime sprees (+25%, +50%, +100%), flags understaffed stations, and models how filling vacancies reduces officer caseload strain.</a:t>
            </a:r>
          </a:p>
          <a:p>
            <a:pPr>
              <a:spcBef>
                <a:spcPts val="800"/>
              </a:spcBef>
              <a:defRPr sz="1400" b="1">
                <a:solidFill>
                  <a:srgbClr val="CC0000"/>
                </a:solidFill>
                <a:latin typeface="Calibri"/>
              </a:defRPr>
            </a:pPr>
            <a:r>
              <a:t>4. Geospatial Cartography &amp; Full-Stack Interface</a:t>
            </a:r>
          </a:p>
          <a:p>
            <a:pPr>
              <a:spcBef>
                <a:spcPts val="200"/>
              </a:spcBef>
              <a:defRPr sz="1200">
                <a:solidFill>
                  <a:srgbClr val="1E293B"/>
                </a:solidFill>
                <a:latin typeface="Calibri"/>
              </a:defRPr>
            </a:pPr>
            <a:r>
              <a:t>Deploy a step-by-step interactive Web dashboard using Leaflet OpenStreetMap, drill-down station intelligence drawers, and direct CSV data exports.</a:t>
            </a:r>
          </a:p>
        </p:txBody>
      </p:sp>
      <p:sp>
        <p:nvSpPr>
          <p:cNvPr id="5" name="Rectangle 4"/>
          <p:cNvSpPr/>
          <p:nvPr/>
        </p:nvSpPr>
        <p:spPr>
          <a:xfrm>
            <a:off x="0" y="4709160"/>
            <a:ext cx="9144000" cy="43891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727448"/>
            <a:ext cx="5943600" cy="365760"/>
          </a:xfrm>
          <a:prstGeom prst="rect">
            <a:avLst/>
          </a:prstGeom>
          <a:noFill/>
        </p:spPr>
        <p:txBody>
          <a:bodyPr wrap="none">
            <a:spAutoFit/>
          </a:bodyPr>
          <a:lstStyle/>
          <a:p>
            <a:pPr>
              <a:defRPr sz="1100">
                <a:solidFill>
                  <a:srgbClr val="FFFFFF"/>
                </a:solidFill>
                <a:latin typeface="Calibri"/>
              </a:defRPr>
            </a:pPr>
            <a:r>
              <a:t>Crime Hotspots Prediction  |  DATAMI  |  Dept. of CSE(AI)</a:t>
            </a:r>
          </a:p>
        </p:txBody>
      </p:sp>
      <p:sp>
        <p:nvSpPr>
          <p:cNvPr id="7" name="TextBox 6"/>
          <p:cNvSpPr txBox="1"/>
          <p:nvPr/>
        </p:nvSpPr>
        <p:spPr>
          <a:xfrm>
            <a:off x="7772400" y="4727448"/>
            <a:ext cx="914400" cy="365760"/>
          </a:xfrm>
          <a:prstGeom prst="rect">
            <a:avLst/>
          </a:prstGeom>
          <a:noFill/>
        </p:spPr>
        <p:txBody>
          <a:bodyPr wrap="none">
            <a:spAutoFit/>
          </a:bodyPr>
          <a:lstStyle/>
          <a:p>
            <a:pPr algn="r">
              <a:defRPr sz="1200" b="1">
                <a:solidFill>
                  <a:srgbClr val="FFFFFF"/>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7818120" y="164592"/>
            <a:ext cx="1005840" cy="571293"/>
          </a:xfrm>
          <a:prstGeom prst="rect">
            <a:avLst/>
          </a:prstGeom>
        </p:spPr>
      </p:pic>
      <p:sp>
        <p:nvSpPr>
          <p:cNvPr id="3" name="TextBox 2"/>
          <p:cNvSpPr txBox="1"/>
          <p:nvPr/>
        </p:nvSpPr>
        <p:spPr>
          <a:xfrm>
            <a:off x="548640" y="320040"/>
            <a:ext cx="7132320" cy="685800"/>
          </a:xfrm>
          <a:prstGeom prst="rect">
            <a:avLst/>
          </a:prstGeom>
          <a:noFill/>
        </p:spPr>
        <p:txBody>
          <a:bodyPr wrap="square">
            <a:spAutoFit/>
          </a:bodyPr>
          <a:lstStyle/>
          <a:p>
            <a:pPr>
              <a:defRPr sz="2300" b="1">
                <a:solidFill>
                  <a:srgbClr val="0F172A"/>
                </a:solidFill>
                <a:latin typeface="Calibri"/>
              </a:defRPr>
            </a:pPr>
            <a:r>
              <a:t>System Architecture &amp; Processing Workflow</a:t>
            </a:r>
          </a:p>
          <a:p>
            <a:pPr>
              <a:defRPr sz="1100" b="1">
                <a:solidFill>
                  <a:srgbClr val="CC0000"/>
                </a:solidFill>
                <a:latin typeface="Calibri"/>
              </a:defRPr>
            </a:pPr>
            <a:r>
              <a:t>5-STEP SEQUENTIAL DATA MINING PIPELINE</a:t>
            </a:r>
          </a:p>
        </p:txBody>
      </p:sp>
      <p:pic>
        <p:nvPicPr>
          <p:cNvPr id="4" name="Picture 3" descr="architecture_flowchart.png"/>
          <p:cNvPicPr>
            <a:picLocks noChangeAspect="1"/>
          </p:cNvPicPr>
          <p:nvPr/>
        </p:nvPicPr>
        <p:blipFill>
          <a:blip r:embed="rId3"/>
          <a:stretch>
            <a:fillRect/>
          </a:stretch>
        </p:blipFill>
        <p:spPr>
          <a:xfrm>
            <a:off x="548640" y="1078992"/>
            <a:ext cx="8046720" cy="3014705"/>
          </a:xfrm>
          <a:prstGeom prst="rect">
            <a:avLst/>
          </a:prstGeom>
        </p:spPr>
      </p:pic>
      <p:sp>
        <p:nvSpPr>
          <p:cNvPr id="5" name="TextBox 4"/>
          <p:cNvSpPr txBox="1"/>
          <p:nvPr/>
        </p:nvSpPr>
        <p:spPr>
          <a:xfrm>
            <a:off x="548640" y="3931920"/>
            <a:ext cx="8046720" cy="731520"/>
          </a:xfrm>
          <a:prstGeom prst="rect">
            <a:avLst/>
          </a:prstGeom>
          <a:noFill/>
        </p:spPr>
        <p:txBody>
          <a:bodyPr wrap="square">
            <a:spAutoFit/>
          </a:bodyPr>
          <a:lstStyle/>
          <a:p>
            <a:pPr algn="ctr">
              <a:defRPr sz="1150" b="1">
                <a:solidFill>
                  <a:srgbClr val="0F172A"/>
                </a:solidFill>
                <a:latin typeface="Calibri"/>
              </a:defRPr>
            </a:pPr>
            <a:r>
              <a:t>Pipeline Execution Flow: Raw HTML Portals → Clean Relational Warehouse → Temporal Features → Explainable ML Tree → Leaflet Cartography</a:t>
            </a:r>
          </a:p>
        </p:txBody>
      </p:sp>
      <p:sp>
        <p:nvSpPr>
          <p:cNvPr id="6" name="Rectangle 5"/>
          <p:cNvSpPr/>
          <p:nvPr/>
        </p:nvSpPr>
        <p:spPr>
          <a:xfrm>
            <a:off x="0" y="4709160"/>
            <a:ext cx="9144000" cy="43891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727448"/>
            <a:ext cx="5943600" cy="365760"/>
          </a:xfrm>
          <a:prstGeom prst="rect">
            <a:avLst/>
          </a:prstGeom>
          <a:noFill/>
        </p:spPr>
        <p:txBody>
          <a:bodyPr wrap="none">
            <a:spAutoFit/>
          </a:bodyPr>
          <a:lstStyle/>
          <a:p>
            <a:pPr>
              <a:defRPr sz="1100">
                <a:solidFill>
                  <a:srgbClr val="FFFFFF"/>
                </a:solidFill>
                <a:latin typeface="Calibri"/>
              </a:defRPr>
            </a:pPr>
            <a:r>
              <a:t>Crime Hotspots Prediction  |  DATAMI  |  Dept. of CSE(AI)</a:t>
            </a:r>
          </a:p>
        </p:txBody>
      </p:sp>
      <p:sp>
        <p:nvSpPr>
          <p:cNvPr id="8" name="TextBox 7"/>
          <p:cNvSpPr txBox="1"/>
          <p:nvPr/>
        </p:nvSpPr>
        <p:spPr>
          <a:xfrm>
            <a:off x="7772400" y="4727448"/>
            <a:ext cx="914400" cy="365760"/>
          </a:xfrm>
          <a:prstGeom prst="rect">
            <a:avLst/>
          </a:prstGeom>
          <a:noFill/>
        </p:spPr>
        <p:txBody>
          <a:bodyPr wrap="none">
            <a:spAutoFit/>
          </a:bodyPr>
          <a:lstStyle/>
          <a:p>
            <a:pPr algn="r">
              <a:defRPr sz="1200" b="1">
                <a:solidFill>
                  <a:srgbClr val="FFFFFF"/>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7818120" y="164592"/>
            <a:ext cx="1005840" cy="571293"/>
          </a:xfrm>
          <a:prstGeom prst="rect">
            <a:avLst/>
          </a:prstGeom>
        </p:spPr>
      </p:pic>
      <p:sp>
        <p:nvSpPr>
          <p:cNvPr id="3" name="TextBox 2"/>
          <p:cNvSpPr txBox="1"/>
          <p:nvPr/>
        </p:nvSpPr>
        <p:spPr>
          <a:xfrm>
            <a:off x="548640" y="320040"/>
            <a:ext cx="7132320" cy="685800"/>
          </a:xfrm>
          <a:prstGeom prst="rect">
            <a:avLst/>
          </a:prstGeom>
          <a:noFill/>
        </p:spPr>
        <p:txBody>
          <a:bodyPr wrap="square">
            <a:spAutoFit/>
          </a:bodyPr>
          <a:lstStyle/>
          <a:p>
            <a:pPr>
              <a:defRPr sz="2300" b="1">
                <a:solidFill>
                  <a:srgbClr val="0F172A"/>
                </a:solidFill>
                <a:latin typeface="Calibri"/>
              </a:defRPr>
            </a:pPr>
            <a:r>
              <a:t>Data Extraction &amp; Cleaning Methodology</a:t>
            </a:r>
          </a:p>
          <a:p>
            <a:pPr>
              <a:defRPr sz="1100" b="1">
                <a:solidFill>
                  <a:srgbClr val="CC0000"/>
                </a:solidFill>
                <a:latin typeface="Calibri"/>
              </a:defRPr>
            </a:pPr>
            <a:r>
              <a:t>DATA INGESTION, TAXONOMY NORMALIZATION &amp; CONCEPT HIERARCHIES</a:t>
            </a:r>
          </a:p>
        </p:txBody>
      </p:sp>
      <p:sp>
        <p:nvSpPr>
          <p:cNvPr id="4" name="TextBox 3"/>
          <p:cNvSpPr txBox="1"/>
          <p:nvPr/>
        </p:nvSpPr>
        <p:spPr>
          <a:xfrm>
            <a:off x="731520" y="1143000"/>
            <a:ext cx="7680960" cy="3291840"/>
          </a:xfrm>
          <a:prstGeom prst="rect">
            <a:avLst/>
          </a:prstGeom>
          <a:noFill/>
        </p:spPr>
        <p:txBody>
          <a:bodyPr wrap="square">
            <a:spAutoFit/>
          </a:bodyPr>
          <a:lstStyle/>
          <a:p>
            <a:pPr>
              <a:spcBef>
                <a:spcPts val="0"/>
              </a:spcBef>
              <a:defRPr sz="1350" b="1">
                <a:solidFill>
                  <a:srgbClr val="CC0000"/>
                </a:solidFill>
                <a:latin typeface="Calibri"/>
              </a:defRPr>
            </a:pPr>
            <a:r>
              <a:t>• 100% Traceable Real-World Data Acquisition</a:t>
            </a:r>
          </a:p>
          <a:p>
            <a:pPr>
              <a:spcBef>
                <a:spcPts val="200"/>
              </a:spcBef>
              <a:defRPr sz="1200">
                <a:solidFill>
                  <a:srgbClr val="1E293B"/>
                </a:solidFill>
                <a:latin typeface="Calibri"/>
              </a:defRPr>
            </a:pPr>
            <a:r>
              <a:t>Harvested 14,262 historical crime records (2014–2023), 250 staff posts, and physical coordinates from official portals: ps.keralapolice.gov.in and kochicity.keralapolice.gov.in. Raw HTML cached locally.</a:t>
            </a:r>
          </a:p>
          <a:p>
            <a:pPr>
              <a:spcBef>
                <a:spcPts val="600"/>
              </a:spcBef>
              <a:defRPr sz="1350" b="1">
                <a:solidFill>
                  <a:srgbClr val="CC0000"/>
                </a:solidFill>
                <a:latin typeface="Calibri"/>
              </a:defRPr>
            </a:pPr>
            <a:r>
              <a:t>• Strict Zero-Count vs Unobserved Year Policy</a:t>
            </a:r>
          </a:p>
          <a:p>
            <a:pPr>
              <a:spcBef>
                <a:spcPts val="200"/>
              </a:spcBef>
              <a:defRPr sz="1200">
                <a:solidFill>
                  <a:srgbClr val="1E293B"/>
                </a:solidFill>
                <a:latin typeface="Calibri"/>
              </a:defRPr>
            </a:pPr>
            <a:r>
              <a:t>A reported '0' represents an active station with zero occurrences of that specific crime. A NULL indicates an unobserved or unestablished year. Preserving true zeros prevents distorting model probabilities.</a:t>
            </a:r>
          </a:p>
          <a:p>
            <a:pPr>
              <a:spcBef>
                <a:spcPts val="600"/>
              </a:spcBef>
              <a:defRPr sz="1350" b="1">
                <a:solidFill>
                  <a:srgbClr val="CC0000"/>
                </a:solidFill>
                <a:latin typeface="Calibri"/>
              </a:defRPr>
            </a:pPr>
            <a:r>
              <a:t>• Station Entity Harmonization</a:t>
            </a:r>
          </a:p>
          <a:p>
            <a:pPr>
              <a:spcBef>
                <a:spcPts val="200"/>
              </a:spcBef>
              <a:defRPr sz="1200">
                <a:solidFill>
                  <a:srgbClr val="1E293B"/>
                </a:solidFill>
                <a:latin typeface="Calibri"/>
              </a:defRPr>
            </a:pPr>
            <a:r>
              <a:t>Resolved mismatched URL slugs and portal naming variations (e.g. 'ernakulamcentral-ps' ↔ 'Ernakulam Central') into unified relational primary keys.</a:t>
            </a:r>
          </a:p>
          <a:p>
            <a:pPr>
              <a:spcBef>
                <a:spcPts val="600"/>
              </a:spcBef>
              <a:defRPr sz="1350" b="1">
                <a:solidFill>
                  <a:srgbClr val="CC0000"/>
                </a:solidFill>
                <a:latin typeface="Calibri"/>
              </a:defRPr>
            </a:pPr>
            <a:r>
              <a:t>• Spatial &amp; Legal Concept Hierarchies</a:t>
            </a:r>
          </a:p>
          <a:p>
            <a:pPr>
              <a:spcBef>
                <a:spcPts val="200"/>
              </a:spcBef>
              <a:defRPr sz="1200">
                <a:solidFill>
                  <a:srgbClr val="1E293B"/>
                </a:solidFill>
                <a:latin typeface="Calibri"/>
              </a:defRPr>
            </a:pPr>
            <a:r>
              <a:t>Spatial: State → District (Kochi City / Rural) → Sub-Division (Ernakulam, Mattancherry, etc.) → Station.</a:t>
            </a:r>
            <a:br/>
            <a:r>
              <a:t>Legal: Penal Code (IPC vs SLL) → Category (Violent, Property, Vice) → Specific Offense Head.</a:t>
            </a:r>
          </a:p>
        </p:txBody>
      </p:sp>
      <p:sp>
        <p:nvSpPr>
          <p:cNvPr id="5" name="Rectangle 4"/>
          <p:cNvSpPr/>
          <p:nvPr/>
        </p:nvSpPr>
        <p:spPr>
          <a:xfrm>
            <a:off x="0" y="4709160"/>
            <a:ext cx="9144000" cy="43891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727448"/>
            <a:ext cx="5943600" cy="365760"/>
          </a:xfrm>
          <a:prstGeom prst="rect">
            <a:avLst/>
          </a:prstGeom>
          <a:noFill/>
        </p:spPr>
        <p:txBody>
          <a:bodyPr wrap="none">
            <a:spAutoFit/>
          </a:bodyPr>
          <a:lstStyle/>
          <a:p>
            <a:pPr>
              <a:defRPr sz="1100">
                <a:solidFill>
                  <a:srgbClr val="FFFFFF"/>
                </a:solidFill>
                <a:latin typeface="Calibri"/>
              </a:defRPr>
            </a:pPr>
            <a:r>
              <a:t>Crime Hotspots Prediction  |  DATAMI  |  Dept. of CSE(AI)</a:t>
            </a:r>
          </a:p>
        </p:txBody>
      </p:sp>
      <p:sp>
        <p:nvSpPr>
          <p:cNvPr id="7" name="TextBox 6"/>
          <p:cNvSpPr txBox="1"/>
          <p:nvPr/>
        </p:nvSpPr>
        <p:spPr>
          <a:xfrm>
            <a:off x="7772400" y="4727448"/>
            <a:ext cx="914400" cy="365760"/>
          </a:xfrm>
          <a:prstGeom prst="rect">
            <a:avLst/>
          </a:prstGeom>
          <a:noFill/>
        </p:spPr>
        <p:txBody>
          <a:bodyPr wrap="none">
            <a:spAutoFit/>
          </a:bodyPr>
          <a:lstStyle/>
          <a:p>
            <a:pPr algn="r">
              <a:defRPr sz="1200" b="1">
                <a:solidFill>
                  <a:srgbClr val="FFFFFF"/>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7818120" y="164592"/>
            <a:ext cx="1005840" cy="571293"/>
          </a:xfrm>
          <a:prstGeom prst="rect">
            <a:avLst/>
          </a:prstGeom>
        </p:spPr>
      </p:pic>
      <p:sp>
        <p:nvSpPr>
          <p:cNvPr id="3" name="TextBox 2"/>
          <p:cNvSpPr txBox="1"/>
          <p:nvPr/>
        </p:nvSpPr>
        <p:spPr>
          <a:xfrm>
            <a:off x="548640" y="320040"/>
            <a:ext cx="7132320" cy="685800"/>
          </a:xfrm>
          <a:prstGeom prst="rect">
            <a:avLst/>
          </a:prstGeom>
          <a:noFill/>
        </p:spPr>
        <p:txBody>
          <a:bodyPr wrap="square">
            <a:spAutoFit/>
          </a:bodyPr>
          <a:lstStyle/>
          <a:p>
            <a:pPr>
              <a:defRPr sz="2300" b="1">
                <a:solidFill>
                  <a:srgbClr val="0F172A"/>
                </a:solidFill>
                <a:latin typeface="Calibri"/>
              </a:defRPr>
            </a:pPr>
            <a:r>
              <a:t>Data Warehouse &amp; OLAP Operations</a:t>
            </a:r>
          </a:p>
          <a:p>
            <a:pPr>
              <a:defRPr sz="1100" b="1">
                <a:solidFill>
                  <a:srgbClr val="CC0000"/>
                </a:solidFill>
                <a:latin typeface="Calibri"/>
              </a:defRPr>
            </a:pPr>
            <a:r>
              <a:t>WHY RAW CRIME ROWS ARE LOW &amp; HOW OLAP ROLLS UP STATION TOTALS</a:t>
            </a:r>
          </a:p>
        </p:txBody>
      </p:sp>
      <p:sp>
        <p:nvSpPr>
          <p:cNvPr id="4" name="TextBox 3"/>
          <p:cNvSpPr txBox="1"/>
          <p:nvPr/>
        </p:nvSpPr>
        <p:spPr>
          <a:xfrm>
            <a:off x="548640" y="1143000"/>
            <a:ext cx="4114800" cy="3291840"/>
          </a:xfrm>
          <a:prstGeom prst="rect">
            <a:avLst/>
          </a:prstGeom>
          <a:noFill/>
        </p:spPr>
        <p:txBody>
          <a:bodyPr wrap="square">
            <a:spAutoFit/>
          </a:bodyPr>
          <a:lstStyle/>
          <a:p>
            <a:pPr>
              <a:defRPr sz="1400" b="1">
                <a:solidFill>
                  <a:srgbClr val="CC0000"/>
                </a:solidFill>
                <a:latin typeface="Calibri"/>
              </a:defRPr>
            </a:pPr>
            <a:r>
              <a:t>Fact Table Granularity vs OLAP Roll-Up:</a:t>
            </a:r>
          </a:p>
          <a:p>
            <a:pPr>
              <a:spcBef>
                <a:spcPts val="600"/>
              </a:spcBef>
              <a:defRPr sz="1200">
                <a:solidFill>
                  <a:srgbClr val="1E293B"/>
                </a:solidFill>
                <a:latin typeface="Calibri"/>
              </a:defRPr>
            </a:pPr>
            <a:r>
              <a:t>• Fine Fact Table Grain: In crime_records, each row is Station × Year × Specific Crime Head. Rare crimes (Murder, Dacoity) naturally show 0, 1, or 2 cases.</a:t>
            </a:r>
          </a:p>
          <a:p>
            <a:pPr>
              <a:spcBef>
                <a:spcPts val="600"/>
              </a:spcBef>
              <a:defRPr sz="1200">
                <a:solidFill>
                  <a:srgbClr val="1E293B"/>
                </a:solidFill>
                <a:latin typeface="Calibri"/>
              </a:defRPr>
            </a:pPr>
            <a:r>
              <a:t>• OLAP Roll-Up: Aggregating all heads to annual totals reveals true metropolitan crime volumes (1,000 to 2,000+ cases).</a:t>
            </a:r>
          </a:p>
          <a:p>
            <a:pPr>
              <a:spcBef>
                <a:spcPts val="600"/>
              </a:spcBef>
              <a:defRPr sz="1200">
                <a:solidFill>
                  <a:srgbClr val="1E293B"/>
                </a:solidFill>
                <a:latin typeface="Calibri"/>
              </a:defRPr>
            </a:pPr>
            <a:r>
              <a:t>• Top Stations: Ernakulam Central (1,939 cases), Town South (1,418 cases), and Palarivattom (1,110 cases).</a:t>
            </a:r>
          </a:p>
          <a:p>
            <a:pPr>
              <a:spcBef>
                <a:spcPts val="600"/>
              </a:spcBef>
              <a:defRPr sz="1200">
                <a:solidFill>
                  <a:srgbClr val="1E293B"/>
                </a:solidFill>
                <a:latin typeface="Calibri"/>
              </a:defRPr>
            </a:pPr>
            <a:r>
              <a:t>• OLAP Pivot Table: Cross-tabulates all 37 stations across 10 years to spot long-term trajectories.</a:t>
            </a:r>
          </a:p>
        </p:txBody>
      </p:sp>
      <p:pic>
        <p:nvPicPr>
          <p:cNvPr id="5" name="Picture 4" descr="olap_rollup.png"/>
          <p:cNvPicPr>
            <a:picLocks noChangeAspect="1"/>
          </p:cNvPicPr>
          <p:nvPr/>
        </p:nvPicPr>
        <p:blipFill>
          <a:blip r:embed="rId3"/>
          <a:stretch>
            <a:fillRect/>
          </a:stretch>
        </p:blipFill>
        <p:spPr>
          <a:xfrm>
            <a:off x="4754880" y="1188720"/>
            <a:ext cx="3931920" cy="2698376"/>
          </a:xfrm>
          <a:prstGeom prst="rect">
            <a:avLst/>
          </a:prstGeom>
        </p:spPr>
      </p:pic>
      <p:sp>
        <p:nvSpPr>
          <p:cNvPr id="6" name="Rectangle 5"/>
          <p:cNvSpPr/>
          <p:nvPr/>
        </p:nvSpPr>
        <p:spPr>
          <a:xfrm>
            <a:off x="0" y="4709160"/>
            <a:ext cx="9144000" cy="43891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727448"/>
            <a:ext cx="5943600" cy="365760"/>
          </a:xfrm>
          <a:prstGeom prst="rect">
            <a:avLst/>
          </a:prstGeom>
          <a:noFill/>
        </p:spPr>
        <p:txBody>
          <a:bodyPr wrap="none">
            <a:spAutoFit/>
          </a:bodyPr>
          <a:lstStyle/>
          <a:p>
            <a:pPr>
              <a:defRPr sz="1100">
                <a:solidFill>
                  <a:srgbClr val="FFFFFF"/>
                </a:solidFill>
                <a:latin typeface="Calibri"/>
              </a:defRPr>
            </a:pPr>
            <a:r>
              <a:t>Crime Hotspots Prediction  |  DATAMI  |  Dept. of CSE(AI)</a:t>
            </a:r>
          </a:p>
        </p:txBody>
      </p:sp>
      <p:sp>
        <p:nvSpPr>
          <p:cNvPr id="8" name="TextBox 7"/>
          <p:cNvSpPr txBox="1"/>
          <p:nvPr/>
        </p:nvSpPr>
        <p:spPr>
          <a:xfrm>
            <a:off x="7772400" y="4727448"/>
            <a:ext cx="914400" cy="365760"/>
          </a:xfrm>
          <a:prstGeom prst="rect">
            <a:avLst/>
          </a:prstGeom>
          <a:noFill/>
        </p:spPr>
        <p:txBody>
          <a:bodyPr wrap="none">
            <a:spAutoFit/>
          </a:bodyPr>
          <a:lstStyle/>
          <a:p>
            <a:pPr algn="r">
              <a:defRPr sz="1200" b="1">
                <a:solidFill>
                  <a:srgbClr val="FFFFFF"/>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7818120" y="164592"/>
            <a:ext cx="1005840" cy="571293"/>
          </a:xfrm>
          <a:prstGeom prst="rect">
            <a:avLst/>
          </a:prstGeom>
        </p:spPr>
      </p:pic>
      <p:sp>
        <p:nvSpPr>
          <p:cNvPr id="3" name="TextBox 2"/>
          <p:cNvSpPr txBox="1"/>
          <p:nvPr/>
        </p:nvSpPr>
        <p:spPr>
          <a:xfrm>
            <a:off x="548640" y="320040"/>
            <a:ext cx="7132320" cy="685800"/>
          </a:xfrm>
          <a:prstGeom prst="rect">
            <a:avLst/>
          </a:prstGeom>
          <a:noFill/>
        </p:spPr>
        <p:txBody>
          <a:bodyPr wrap="square">
            <a:spAutoFit/>
          </a:bodyPr>
          <a:lstStyle/>
          <a:p>
            <a:pPr>
              <a:defRPr sz="2300" b="1">
                <a:solidFill>
                  <a:srgbClr val="0F172A"/>
                </a:solidFill>
                <a:latin typeface="Calibri"/>
              </a:defRPr>
            </a:pPr>
            <a:r>
              <a:t>Feature Engineering &amp; Chronological Split</a:t>
            </a:r>
          </a:p>
          <a:p>
            <a:pPr>
              <a:defRPr sz="1100" b="1">
                <a:solidFill>
                  <a:srgbClr val="CC0000"/>
                </a:solidFill>
                <a:latin typeface="Calibri"/>
              </a:defRPr>
            </a:pPr>
            <a:r>
              <a:t>5 LAGGED PREDICTORS &amp; ZERO-LEAKAGE TEMPORAL EVALUATION</a:t>
            </a:r>
          </a:p>
        </p:txBody>
      </p:sp>
      <p:sp>
        <p:nvSpPr>
          <p:cNvPr id="4" name="TextBox 3"/>
          <p:cNvSpPr txBox="1"/>
          <p:nvPr/>
        </p:nvSpPr>
        <p:spPr>
          <a:xfrm>
            <a:off x="548640" y="1143000"/>
            <a:ext cx="4114800" cy="3291840"/>
          </a:xfrm>
          <a:prstGeom prst="rect">
            <a:avLst/>
          </a:prstGeom>
          <a:noFill/>
        </p:spPr>
        <p:txBody>
          <a:bodyPr wrap="square">
            <a:spAutoFit/>
          </a:bodyPr>
          <a:lstStyle/>
          <a:p>
            <a:pPr>
              <a:defRPr sz="1400" b="1">
                <a:solidFill>
                  <a:srgbClr val="CC0000"/>
                </a:solidFill>
                <a:latin typeface="Calibri"/>
              </a:defRPr>
            </a:pPr>
            <a:r>
              <a:t>Mathematical Feature Formulations:</a:t>
            </a:r>
          </a:p>
          <a:p>
            <a:pPr>
              <a:spcBef>
                <a:spcPts val="400"/>
              </a:spcBef>
              <a:defRPr sz="1150">
                <a:solidFill>
                  <a:srgbClr val="1E293B"/>
                </a:solidFill>
                <a:latin typeface="Calibri"/>
              </a:defRPr>
            </a:pPr>
            <a:r>
              <a:t>• X₁ (lag1_cases): Prior year volume (T-1) — 38.5% Importance (primary momentum).</a:t>
            </a:r>
          </a:p>
          <a:p>
            <a:pPr>
              <a:spcBef>
                <a:spcPts val="400"/>
              </a:spcBef>
              <a:defRPr sz="1150">
                <a:solidFill>
                  <a:srgbClr val="1E293B"/>
                </a:solidFill>
                <a:latin typeface="Calibri"/>
              </a:defRPr>
            </a:pPr>
            <a:r>
              <a:t>• X₂ (lag2_cases): Two-year prior volume (T-2) — 15.8% (medium-term stability).</a:t>
            </a:r>
          </a:p>
          <a:p>
            <a:pPr>
              <a:spcBef>
                <a:spcPts val="400"/>
              </a:spcBef>
              <a:defRPr sz="1150">
                <a:solidFill>
                  <a:srgbClr val="1E293B"/>
                </a:solidFill>
                <a:latin typeface="Calibri"/>
              </a:defRPr>
            </a:pPr>
            <a:r>
              <a:t>• X₃ (rolling_2yr_avg): Smoothed 2-year average — 28.3% (noise reduction).</a:t>
            </a:r>
          </a:p>
          <a:p>
            <a:pPr>
              <a:spcBef>
                <a:spcPts val="400"/>
              </a:spcBef>
              <a:defRPr sz="1150">
                <a:solidFill>
                  <a:srgbClr val="1E293B"/>
                </a:solidFill>
                <a:latin typeface="Calibri"/>
              </a:defRPr>
            </a:pPr>
            <a:r>
              <a:t>• X₄ (trend_rate): Registration velocity — 10.8% (acceleration indicator).</a:t>
            </a:r>
          </a:p>
          <a:p>
            <a:pPr>
              <a:spcBef>
                <a:spcPts val="400"/>
              </a:spcBef>
              <a:defRPr sz="1150">
                <a:solidFill>
                  <a:srgbClr val="1E293B"/>
                </a:solidFill>
                <a:latin typeface="Calibri"/>
              </a:defRPr>
            </a:pPr>
            <a:r>
              <a:t>• X₅ (sll_ratio): Proportion of Special &amp; Local Laws — 6.6% (vice activity).</a:t>
            </a:r>
          </a:p>
          <a:p>
            <a:pPr>
              <a:spcBef>
                <a:spcPts val="400"/>
              </a:spcBef>
              <a:defRPr sz="1150">
                <a:solidFill>
                  <a:srgbClr val="1E293B"/>
                </a:solidFill>
                <a:latin typeface="Calibri"/>
              </a:defRPr>
            </a:pPr>
            <a:r>
              <a:t>• Chronological Split: Train on 2016–2019, test on 2020–2025. Zero future data leakage.</a:t>
            </a:r>
          </a:p>
        </p:txBody>
      </p:sp>
      <p:pic>
        <p:nvPicPr>
          <p:cNvPr id="5" name="Picture 4" descr="feature_importance.png"/>
          <p:cNvPicPr>
            <a:picLocks noChangeAspect="1"/>
          </p:cNvPicPr>
          <p:nvPr/>
        </p:nvPicPr>
        <p:blipFill>
          <a:blip r:embed="rId3"/>
          <a:stretch>
            <a:fillRect/>
          </a:stretch>
        </p:blipFill>
        <p:spPr>
          <a:xfrm>
            <a:off x="4754880" y="1188720"/>
            <a:ext cx="3931920" cy="2689587"/>
          </a:xfrm>
          <a:prstGeom prst="rect">
            <a:avLst/>
          </a:prstGeom>
        </p:spPr>
      </p:pic>
      <p:sp>
        <p:nvSpPr>
          <p:cNvPr id="6" name="Rectangle 5"/>
          <p:cNvSpPr/>
          <p:nvPr/>
        </p:nvSpPr>
        <p:spPr>
          <a:xfrm>
            <a:off x="0" y="4709160"/>
            <a:ext cx="9144000" cy="43891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727448"/>
            <a:ext cx="5943600" cy="365760"/>
          </a:xfrm>
          <a:prstGeom prst="rect">
            <a:avLst/>
          </a:prstGeom>
          <a:noFill/>
        </p:spPr>
        <p:txBody>
          <a:bodyPr wrap="none">
            <a:spAutoFit/>
          </a:bodyPr>
          <a:lstStyle/>
          <a:p>
            <a:pPr>
              <a:defRPr sz="1100">
                <a:solidFill>
                  <a:srgbClr val="FFFFFF"/>
                </a:solidFill>
                <a:latin typeface="Calibri"/>
              </a:defRPr>
            </a:pPr>
            <a:r>
              <a:t>Crime Hotspots Prediction  |  DATAMI  |  Dept. of CSE(AI)</a:t>
            </a:r>
          </a:p>
        </p:txBody>
      </p:sp>
      <p:sp>
        <p:nvSpPr>
          <p:cNvPr id="8" name="TextBox 7"/>
          <p:cNvSpPr txBox="1"/>
          <p:nvPr/>
        </p:nvSpPr>
        <p:spPr>
          <a:xfrm>
            <a:off x="7772400" y="4727448"/>
            <a:ext cx="914400" cy="365760"/>
          </a:xfrm>
          <a:prstGeom prst="rect">
            <a:avLst/>
          </a:prstGeom>
          <a:noFill/>
        </p:spPr>
        <p:txBody>
          <a:bodyPr wrap="none">
            <a:spAutoFit/>
          </a:bodyPr>
          <a:lstStyle/>
          <a:p>
            <a:pPr algn="r">
              <a:defRPr sz="1200" b="1">
                <a:solidFill>
                  <a:srgbClr val="FFFFFF"/>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7818120" y="164592"/>
            <a:ext cx="1005840" cy="571293"/>
          </a:xfrm>
          <a:prstGeom prst="rect">
            <a:avLst/>
          </a:prstGeom>
        </p:spPr>
      </p:pic>
      <p:sp>
        <p:nvSpPr>
          <p:cNvPr id="3" name="TextBox 2"/>
          <p:cNvSpPr txBox="1"/>
          <p:nvPr/>
        </p:nvSpPr>
        <p:spPr>
          <a:xfrm>
            <a:off x="548640" y="320040"/>
            <a:ext cx="7132320" cy="685800"/>
          </a:xfrm>
          <a:prstGeom prst="rect">
            <a:avLst/>
          </a:prstGeom>
          <a:noFill/>
        </p:spPr>
        <p:txBody>
          <a:bodyPr wrap="square">
            <a:spAutoFit/>
          </a:bodyPr>
          <a:lstStyle/>
          <a:p>
            <a:pPr>
              <a:defRPr sz="2300" b="1">
                <a:solidFill>
                  <a:srgbClr val="0F172A"/>
                </a:solidFill>
                <a:latin typeface="Calibri"/>
              </a:defRPr>
            </a:pPr>
            <a:r>
              <a:t>CART Decision Tree Hotspot Induction</a:t>
            </a:r>
          </a:p>
          <a:p>
            <a:pPr>
              <a:defRPr sz="1100" b="1">
                <a:solidFill>
                  <a:srgbClr val="CC0000"/>
                </a:solidFill>
                <a:latin typeface="Calibri"/>
              </a:defRPr>
            </a:pPr>
            <a:r>
              <a:t>EXPLAINABLE SUPERVISED CLASSIFIER (GINI SPLITS, DEPTH = 3)</a:t>
            </a:r>
          </a:p>
        </p:txBody>
      </p:sp>
      <p:sp>
        <p:nvSpPr>
          <p:cNvPr id="4" name="TextBox 3"/>
          <p:cNvSpPr txBox="1"/>
          <p:nvPr/>
        </p:nvSpPr>
        <p:spPr>
          <a:xfrm>
            <a:off x="548640" y="1143000"/>
            <a:ext cx="4114800" cy="3291840"/>
          </a:xfrm>
          <a:prstGeom prst="rect">
            <a:avLst/>
          </a:prstGeom>
          <a:noFill/>
        </p:spPr>
        <p:txBody>
          <a:bodyPr wrap="square">
            <a:spAutoFit/>
          </a:bodyPr>
          <a:lstStyle/>
          <a:p>
            <a:pPr>
              <a:defRPr sz="1400" b="1">
                <a:solidFill>
                  <a:srgbClr val="CC0000"/>
                </a:solidFill>
                <a:latin typeface="Calibri"/>
              </a:defRPr>
            </a:pPr>
            <a:r>
              <a:t>How the Decision Tree Works:</a:t>
            </a:r>
          </a:p>
          <a:p>
            <a:pPr>
              <a:spcBef>
                <a:spcPts val="400"/>
              </a:spcBef>
              <a:defRPr sz="1150">
                <a:solidFill>
                  <a:srgbClr val="1E293B"/>
                </a:solidFill>
                <a:latin typeface="Calibri"/>
              </a:defRPr>
            </a:pPr>
            <a:r>
              <a:t>• Target Output (Y): Binary classification into Higher Relative Risk (Class 1) vs Lower Relative Risk (Class 0).</a:t>
            </a:r>
          </a:p>
          <a:p>
            <a:pPr>
              <a:spcBef>
                <a:spcPts val="400"/>
              </a:spcBef>
              <a:defRPr sz="1150">
                <a:solidFill>
                  <a:srgbClr val="1E293B"/>
                </a:solidFill>
                <a:latin typeface="Calibri"/>
              </a:defRPr>
            </a:pPr>
            <a:r>
              <a:t>• Splitting Metric: Gini Impurity reduction at each branch: I_G = 1 - Σ p_i².</a:t>
            </a:r>
          </a:p>
          <a:p>
            <a:pPr>
              <a:spcBef>
                <a:spcPts val="400"/>
              </a:spcBef>
              <a:defRPr sz="1150">
                <a:solidFill>
                  <a:srgbClr val="1E293B"/>
                </a:solidFill>
                <a:latin typeface="Calibri"/>
              </a:defRPr>
            </a:pPr>
            <a:r>
              <a:t>• Maximum Depth = 3: Strictly limited to avoid overfitting and produce auditable if-then decision rules.</a:t>
            </a:r>
          </a:p>
          <a:p>
            <a:pPr>
              <a:spcBef>
                <a:spcPts val="400"/>
              </a:spcBef>
              <a:defRPr sz="1150">
                <a:solidFill>
                  <a:srgbClr val="1E293B"/>
                </a:solidFill>
                <a:latin typeface="Calibri"/>
              </a:defRPr>
            </a:pPr>
            <a:r>
              <a:t>• Transparent Rule: IF lag1_cases &gt; 919 AND sll_ratio &gt; 0.42 THEN Higher Risk (Node purity: 95% Higher Risk).</a:t>
            </a:r>
          </a:p>
          <a:p>
            <a:pPr>
              <a:spcBef>
                <a:spcPts val="400"/>
              </a:spcBef>
              <a:defRPr sz="1150">
                <a:solidFill>
                  <a:srgbClr val="1E293B"/>
                </a:solidFill>
                <a:latin typeface="Calibri"/>
              </a:defRPr>
            </a:pPr>
            <a:r>
              <a:t>• Zero Black-Box: Every prediction can be inspected and legally defended by station commanders.</a:t>
            </a:r>
          </a:p>
        </p:txBody>
      </p:sp>
      <p:pic>
        <p:nvPicPr>
          <p:cNvPr id="5" name="Picture 4" descr="decision_tree_vis.png"/>
          <p:cNvPicPr>
            <a:picLocks noChangeAspect="1"/>
          </p:cNvPicPr>
          <p:nvPr/>
        </p:nvPicPr>
        <p:blipFill>
          <a:blip r:embed="rId3"/>
          <a:stretch>
            <a:fillRect/>
          </a:stretch>
        </p:blipFill>
        <p:spPr>
          <a:xfrm>
            <a:off x="4663440" y="1188720"/>
            <a:ext cx="4114800" cy="2335427"/>
          </a:xfrm>
          <a:prstGeom prst="rect">
            <a:avLst/>
          </a:prstGeom>
        </p:spPr>
      </p:pic>
      <p:sp>
        <p:nvSpPr>
          <p:cNvPr id="6" name="Rectangle 5"/>
          <p:cNvSpPr/>
          <p:nvPr/>
        </p:nvSpPr>
        <p:spPr>
          <a:xfrm>
            <a:off x="0" y="4709160"/>
            <a:ext cx="9144000" cy="43891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727448"/>
            <a:ext cx="5943600" cy="365760"/>
          </a:xfrm>
          <a:prstGeom prst="rect">
            <a:avLst/>
          </a:prstGeom>
          <a:noFill/>
        </p:spPr>
        <p:txBody>
          <a:bodyPr wrap="none">
            <a:spAutoFit/>
          </a:bodyPr>
          <a:lstStyle/>
          <a:p>
            <a:pPr>
              <a:defRPr sz="1100">
                <a:solidFill>
                  <a:srgbClr val="FFFFFF"/>
                </a:solidFill>
                <a:latin typeface="Calibri"/>
              </a:defRPr>
            </a:pPr>
            <a:r>
              <a:t>Crime Hotspots Prediction  |  DATAMI  |  Dept. of CSE(AI)</a:t>
            </a:r>
          </a:p>
        </p:txBody>
      </p:sp>
      <p:sp>
        <p:nvSpPr>
          <p:cNvPr id="8" name="TextBox 7"/>
          <p:cNvSpPr txBox="1"/>
          <p:nvPr/>
        </p:nvSpPr>
        <p:spPr>
          <a:xfrm>
            <a:off x="7772400" y="4727448"/>
            <a:ext cx="914400" cy="365760"/>
          </a:xfrm>
          <a:prstGeom prst="rect">
            <a:avLst/>
          </a:prstGeom>
          <a:noFill/>
        </p:spPr>
        <p:txBody>
          <a:bodyPr wrap="none">
            <a:spAutoFit/>
          </a:bodyPr>
          <a:lstStyle/>
          <a:p>
            <a:pPr algn="r">
              <a:defRPr sz="1200" b="1">
                <a:solidFill>
                  <a:srgbClr val="FFFFFF"/>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7818120" y="164592"/>
            <a:ext cx="1005840" cy="571293"/>
          </a:xfrm>
          <a:prstGeom prst="rect">
            <a:avLst/>
          </a:prstGeom>
        </p:spPr>
      </p:pic>
      <p:sp>
        <p:nvSpPr>
          <p:cNvPr id="3" name="TextBox 2"/>
          <p:cNvSpPr txBox="1"/>
          <p:nvPr/>
        </p:nvSpPr>
        <p:spPr>
          <a:xfrm>
            <a:off x="548640" y="320040"/>
            <a:ext cx="7132320" cy="685800"/>
          </a:xfrm>
          <a:prstGeom prst="rect">
            <a:avLst/>
          </a:prstGeom>
          <a:noFill/>
        </p:spPr>
        <p:txBody>
          <a:bodyPr wrap="square">
            <a:spAutoFit/>
          </a:bodyPr>
          <a:lstStyle/>
          <a:p>
            <a:pPr>
              <a:defRPr sz="2300" b="1">
                <a:solidFill>
                  <a:srgbClr val="0F172A"/>
                </a:solidFill>
                <a:latin typeface="Calibri"/>
              </a:defRPr>
            </a:pPr>
            <a:r>
              <a:t>Crime Spree Surge &amp; Staffing Simulator</a:t>
            </a:r>
          </a:p>
          <a:p>
            <a:pPr>
              <a:defRPr sz="1100" b="1">
                <a:solidFill>
                  <a:srgbClr val="CC0000"/>
                </a:solidFill>
                <a:latin typeface="Calibri"/>
              </a:defRPr>
            </a:pPr>
            <a:r>
              <a:t>MODELING OPERATIONAL STRAIN &amp; VACANCY MITIGATION</a:t>
            </a:r>
          </a:p>
        </p:txBody>
      </p:sp>
      <p:sp>
        <p:nvSpPr>
          <p:cNvPr id="4" name="TextBox 3"/>
          <p:cNvSpPr txBox="1"/>
          <p:nvPr/>
        </p:nvSpPr>
        <p:spPr>
          <a:xfrm>
            <a:off x="548640" y="1143000"/>
            <a:ext cx="4023360" cy="3291840"/>
          </a:xfrm>
          <a:prstGeom prst="rect">
            <a:avLst/>
          </a:prstGeom>
          <a:noFill/>
        </p:spPr>
        <p:txBody>
          <a:bodyPr wrap="square">
            <a:spAutoFit/>
          </a:bodyPr>
          <a:lstStyle/>
          <a:p>
            <a:pPr>
              <a:defRPr sz="1400" b="1">
                <a:solidFill>
                  <a:srgbClr val="CC0000"/>
                </a:solidFill>
                <a:latin typeface="Calibri"/>
              </a:defRPr>
            </a:pPr>
            <a:r>
              <a:t>How Understaffing Alerts are Computed:</a:t>
            </a:r>
          </a:p>
          <a:p>
            <a:pPr>
              <a:spcBef>
                <a:spcPts val="400"/>
              </a:spcBef>
              <a:defRPr sz="1150">
                <a:solidFill>
                  <a:srgbClr val="1E293B"/>
                </a:solidFill>
                <a:latin typeface="Calibri"/>
              </a:defRPr>
            </a:pPr>
            <a:r>
              <a:t>• Officer Caseload Metric: Workload = Annual Crimes / Active On-Duty Officers.</a:t>
            </a:r>
          </a:p>
          <a:p>
            <a:pPr>
              <a:spcBef>
                <a:spcPts val="400"/>
              </a:spcBef>
              <a:defRPr sz="1150">
                <a:solidFill>
                  <a:srgbClr val="1E293B"/>
                </a:solidFill>
                <a:latin typeface="Calibri"/>
              </a:defRPr>
            </a:pPr>
            <a:r>
              <a:t>• Spree Volume: Baseline Cases × (1 + Surge %). Tested at +25%, +50%, +100%.</a:t>
            </a:r>
          </a:p>
          <a:p>
            <a:pPr>
              <a:spcBef>
                <a:spcPts val="400"/>
              </a:spcBef>
              <a:defRPr sz="1150">
                <a:solidFill>
                  <a:srgbClr val="1E293B"/>
                </a:solidFill>
                <a:latin typeface="Calibri"/>
              </a:defRPr>
            </a:pPr>
            <a:r>
              <a:t>• Configurable Alert Threshold: Stations exceeding 25 cases/officer trigger an Understaffed Alert.</a:t>
            </a:r>
          </a:p>
          <a:p>
            <a:pPr>
              <a:spcBef>
                <a:spcPts val="400"/>
              </a:spcBef>
              <a:defRPr sz="1150">
                <a:solidFill>
                  <a:srgbClr val="1E293B"/>
                </a:solidFill>
                <a:latin typeface="Calibri"/>
              </a:defRPr>
            </a:pPr>
            <a:r>
              <a:t>• Mathematical Vacancy Mitigation: In Panangad, filling 5 vacancies expands staff from 48 to 53, reducing spree workload from 45.9 down to 41.6 cases/officer.</a:t>
            </a:r>
          </a:p>
          <a:p>
            <a:pPr>
              <a:spcBef>
                <a:spcPts val="400"/>
              </a:spcBef>
              <a:defRPr sz="1150">
                <a:solidFill>
                  <a:srgbClr val="1E293B"/>
                </a:solidFill>
                <a:latin typeface="Calibri"/>
              </a:defRPr>
            </a:pPr>
            <a:r>
              <a:t>• Fleet Strain: Under a +50% spree, 12 of 37 stations trigger Understaffed Alerts.</a:t>
            </a:r>
          </a:p>
        </p:txBody>
      </p:sp>
      <p:pic>
        <p:nvPicPr>
          <p:cNvPr id="5" name="Picture 4" descr="spree_simulation.png"/>
          <p:cNvPicPr>
            <a:picLocks noChangeAspect="1"/>
          </p:cNvPicPr>
          <p:nvPr/>
        </p:nvPicPr>
        <p:blipFill>
          <a:blip r:embed="rId3"/>
          <a:stretch>
            <a:fillRect/>
          </a:stretch>
        </p:blipFill>
        <p:spPr>
          <a:xfrm>
            <a:off x="4663440" y="1188720"/>
            <a:ext cx="4023360" cy="2656936"/>
          </a:xfrm>
          <a:prstGeom prst="rect">
            <a:avLst/>
          </a:prstGeom>
        </p:spPr>
      </p:pic>
      <p:sp>
        <p:nvSpPr>
          <p:cNvPr id="6" name="Rectangle 5"/>
          <p:cNvSpPr/>
          <p:nvPr/>
        </p:nvSpPr>
        <p:spPr>
          <a:xfrm>
            <a:off x="0" y="4709160"/>
            <a:ext cx="9144000" cy="43891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727448"/>
            <a:ext cx="5943600" cy="365760"/>
          </a:xfrm>
          <a:prstGeom prst="rect">
            <a:avLst/>
          </a:prstGeom>
          <a:noFill/>
        </p:spPr>
        <p:txBody>
          <a:bodyPr wrap="none">
            <a:spAutoFit/>
          </a:bodyPr>
          <a:lstStyle/>
          <a:p>
            <a:pPr>
              <a:defRPr sz="1100">
                <a:solidFill>
                  <a:srgbClr val="FFFFFF"/>
                </a:solidFill>
                <a:latin typeface="Calibri"/>
              </a:defRPr>
            </a:pPr>
            <a:r>
              <a:t>Crime Hotspots Prediction  |  DATAMI  |  Dept. of CSE(AI)</a:t>
            </a:r>
          </a:p>
        </p:txBody>
      </p:sp>
      <p:sp>
        <p:nvSpPr>
          <p:cNvPr id="8" name="TextBox 7"/>
          <p:cNvSpPr txBox="1"/>
          <p:nvPr/>
        </p:nvSpPr>
        <p:spPr>
          <a:xfrm>
            <a:off x="7772400" y="4727448"/>
            <a:ext cx="914400" cy="365760"/>
          </a:xfrm>
          <a:prstGeom prst="rect">
            <a:avLst/>
          </a:prstGeom>
          <a:noFill/>
        </p:spPr>
        <p:txBody>
          <a:bodyPr wrap="none">
            <a:spAutoFit/>
          </a:bodyPr>
          <a:lstStyle/>
          <a:p>
            <a:pPr algn="r">
              <a:defRPr sz="1200" b="1">
                <a:solidFill>
                  <a:srgbClr val="FFFFFF"/>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7818120" y="164592"/>
            <a:ext cx="1005840" cy="571293"/>
          </a:xfrm>
          <a:prstGeom prst="rect">
            <a:avLst/>
          </a:prstGeom>
        </p:spPr>
      </p:pic>
      <p:sp>
        <p:nvSpPr>
          <p:cNvPr id="3" name="TextBox 2"/>
          <p:cNvSpPr txBox="1"/>
          <p:nvPr/>
        </p:nvSpPr>
        <p:spPr>
          <a:xfrm>
            <a:off x="548640" y="320040"/>
            <a:ext cx="7132320" cy="685800"/>
          </a:xfrm>
          <a:prstGeom prst="rect">
            <a:avLst/>
          </a:prstGeom>
          <a:noFill/>
        </p:spPr>
        <p:txBody>
          <a:bodyPr wrap="square">
            <a:spAutoFit/>
          </a:bodyPr>
          <a:lstStyle/>
          <a:p>
            <a:pPr>
              <a:defRPr sz="2300" b="1">
                <a:solidFill>
                  <a:srgbClr val="0F172A"/>
                </a:solidFill>
                <a:latin typeface="Calibri"/>
              </a:defRPr>
            </a:pPr>
            <a:r>
              <a:t>Experimental Results &amp; Model Evaluation</a:t>
            </a:r>
          </a:p>
          <a:p>
            <a:pPr>
              <a:defRPr sz="1100" b="1">
                <a:solidFill>
                  <a:srgbClr val="CC0000"/>
                </a:solidFill>
                <a:latin typeface="Calibri"/>
              </a:defRPr>
            </a:pPr>
            <a:r>
              <a:t>TEST METRICS &amp; COMPARISON AGAINST REFERENCE BASELINES</a:t>
            </a:r>
          </a:p>
        </p:txBody>
      </p:sp>
      <p:sp>
        <p:nvSpPr>
          <p:cNvPr id="4" name="TextBox 3"/>
          <p:cNvSpPr txBox="1"/>
          <p:nvPr/>
        </p:nvSpPr>
        <p:spPr>
          <a:xfrm>
            <a:off x="548640" y="1143000"/>
            <a:ext cx="4297680" cy="3291840"/>
          </a:xfrm>
          <a:prstGeom prst="rect">
            <a:avLst/>
          </a:prstGeom>
          <a:noFill/>
        </p:spPr>
        <p:txBody>
          <a:bodyPr wrap="square">
            <a:spAutoFit/>
          </a:bodyPr>
          <a:lstStyle/>
          <a:p>
            <a:pPr>
              <a:defRPr sz="1400" b="1">
                <a:solidFill>
                  <a:srgbClr val="CC0000"/>
                </a:solidFill>
                <a:latin typeface="Calibri"/>
              </a:defRPr>
            </a:pPr>
            <a:r>
              <a:t>Empirical Evaluation (2020–2025 Test Set):</a:t>
            </a:r>
          </a:p>
          <a:p>
            <a:pPr>
              <a:spcBef>
                <a:spcPts val="400"/>
              </a:spcBef>
              <a:defRPr sz="1150">
                <a:solidFill>
                  <a:srgbClr val="1E293B"/>
                </a:solidFill>
                <a:latin typeface="Calibri"/>
              </a:defRPr>
            </a:pPr>
            <a:r>
              <a:t>• Test Accuracy: 61.1% on out-of-time test observations.</a:t>
            </a:r>
          </a:p>
          <a:p>
            <a:pPr>
              <a:spcBef>
                <a:spcPts val="400"/>
              </a:spcBef>
              <a:defRPr sz="1150">
                <a:solidFill>
                  <a:srgbClr val="1E293B"/>
                </a:solidFill>
                <a:latin typeface="Calibri"/>
              </a:defRPr>
            </a:pPr>
            <a:r>
              <a:t>• Precision: 27.0% | Recall: 37.0% | F1-Score: 31.3%.</a:t>
            </a:r>
          </a:p>
          <a:p>
            <a:pPr>
              <a:spcBef>
                <a:spcPts val="400"/>
              </a:spcBef>
              <a:defRPr sz="1150">
                <a:solidFill>
                  <a:srgbClr val="1E293B"/>
                </a:solidFill>
                <a:latin typeface="Calibri"/>
              </a:defRPr>
            </a:pPr>
            <a:r>
              <a:t>• Outperforms Baselines: Beats Zero-R Majority Class (52.1%) and Persistence Lag-1 (47.9%).</a:t>
            </a:r>
          </a:p>
          <a:p>
            <a:pPr>
              <a:spcBef>
                <a:spcPts val="400"/>
              </a:spcBef>
              <a:defRPr sz="1150">
                <a:solidFill>
                  <a:srgbClr val="1E293B"/>
                </a:solidFill>
                <a:latin typeface="Calibri"/>
              </a:defRPr>
            </a:pPr>
            <a:r>
              <a:t>• True Predictive Signal: Verifies that combining multi-year lagged volume with moving averages extracts genuine signal beyond naive guessing.</a:t>
            </a:r>
          </a:p>
          <a:p>
            <a:pPr>
              <a:spcBef>
                <a:spcPts val="400"/>
              </a:spcBef>
              <a:defRPr sz="1150">
                <a:solidFill>
                  <a:srgbClr val="1E293B"/>
                </a:solidFill>
                <a:latin typeface="Calibri"/>
              </a:defRPr>
            </a:pPr>
            <a:r>
              <a:t>• Confusion Matrix Breakdown: 15 True Negatives, 10 True Positives, with 6 False Positives.</a:t>
            </a:r>
          </a:p>
        </p:txBody>
      </p:sp>
      <p:pic>
        <p:nvPicPr>
          <p:cNvPr id="5" name="Picture 4" descr="confusion_matrix.png"/>
          <p:cNvPicPr>
            <a:picLocks noChangeAspect="1"/>
          </p:cNvPicPr>
          <p:nvPr/>
        </p:nvPicPr>
        <p:blipFill>
          <a:blip r:embed="rId3"/>
          <a:stretch>
            <a:fillRect/>
          </a:stretch>
        </p:blipFill>
        <p:spPr>
          <a:xfrm>
            <a:off x="4937760" y="1188720"/>
            <a:ext cx="3749039" cy="3143077"/>
          </a:xfrm>
          <a:prstGeom prst="rect">
            <a:avLst/>
          </a:prstGeom>
        </p:spPr>
      </p:pic>
      <p:sp>
        <p:nvSpPr>
          <p:cNvPr id="6" name="Rectangle 5"/>
          <p:cNvSpPr/>
          <p:nvPr/>
        </p:nvSpPr>
        <p:spPr>
          <a:xfrm>
            <a:off x="0" y="4709160"/>
            <a:ext cx="9144000" cy="43891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727448"/>
            <a:ext cx="5943600" cy="365760"/>
          </a:xfrm>
          <a:prstGeom prst="rect">
            <a:avLst/>
          </a:prstGeom>
          <a:noFill/>
        </p:spPr>
        <p:txBody>
          <a:bodyPr wrap="none">
            <a:spAutoFit/>
          </a:bodyPr>
          <a:lstStyle/>
          <a:p>
            <a:pPr>
              <a:defRPr sz="1100">
                <a:solidFill>
                  <a:srgbClr val="FFFFFF"/>
                </a:solidFill>
                <a:latin typeface="Calibri"/>
              </a:defRPr>
            </a:pPr>
            <a:r>
              <a:t>Crime Hotspots Prediction  |  DATAMI  |  Dept. of CSE(AI)</a:t>
            </a:r>
          </a:p>
        </p:txBody>
      </p:sp>
      <p:sp>
        <p:nvSpPr>
          <p:cNvPr id="8" name="TextBox 7"/>
          <p:cNvSpPr txBox="1"/>
          <p:nvPr/>
        </p:nvSpPr>
        <p:spPr>
          <a:xfrm>
            <a:off x="7772400" y="4727448"/>
            <a:ext cx="914400" cy="365760"/>
          </a:xfrm>
          <a:prstGeom prst="rect">
            <a:avLst/>
          </a:prstGeom>
          <a:noFill/>
        </p:spPr>
        <p:txBody>
          <a:bodyPr wrap="none">
            <a:spAutoFit/>
          </a:bodyPr>
          <a:lstStyle/>
          <a:p>
            <a:pPr algn="r">
              <a:defRPr sz="1200" b="1">
                <a:solidFill>
                  <a:srgbClr val="FFFFFF"/>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7818120" y="164592"/>
            <a:ext cx="1005840" cy="571293"/>
          </a:xfrm>
          <a:prstGeom prst="rect">
            <a:avLst/>
          </a:prstGeom>
        </p:spPr>
      </p:pic>
      <p:sp>
        <p:nvSpPr>
          <p:cNvPr id="3" name="TextBox 2"/>
          <p:cNvSpPr txBox="1"/>
          <p:nvPr/>
        </p:nvSpPr>
        <p:spPr>
          <a:xfrm>
            <a:off x="548640" y="320040"/>
            <a:ext cx="7132320" cy="685800"/>
          </a:xfrm>
          <a:prstGeom prst="rect">
            <a:avLst/>
          </a:prstGeom>
          <a:noFill/>
        </p:spPr>
        <p:txBody>
          <a:bodyPr wrap="square">
            <a:spAutoFit/>
          </a:bodyPr>
          <a:lstStyle/>
          <a:p>
            <a:pPr>
              <a:defRPr sz="2300" b="1">
                <a:solidFill>
                  <a:srgbClr val="0F172A"/>
                </a:solidFill>
                <a:latin typeface="Calibri"/>
              </a:defRPr>
            </a:pPr>
            <a:r>
              <a:t>Operational Findings &amp; Policy Impact</a:t>
            </a:r>
          </a:p>
          <a:p>
            <a:pPr>
              <a:defRPr sz="1100" b="1">
                <a:solidFill>
                  <a:srgbClr val="CC0000"/>
                </a:solidFill>
                <a:latin typeface="Calibri"/>
              </a:defRPr>
            </a:pPr>
            <a:r>
              <a:t>ACTIONABLE POLICING INSIGHTS FOR METROPOLITAN LEADERSHIP</a:t>
            </a:r>
          </a:p>
        </p:txBody>
      </p:sp>
      <p:sp>
        <p:nvSpPr>
          <p:cNvPr id="4" name="TextBox 3"/>
          <p:cNvSpPr txBox="1"/>
          <p:nvPr/>
        </p:nvSpPr>
        <p:spPr>
          <a:xfrm>
            <a:off x="731520" y="1143000"/>
            <a:ext cx="7680960" cy="3291840"/>
          </a:xfrm>
          <a:prstGeom prst="rect">
            <a:avLst/>
          </a:prstGeom>
          <a:noFill/>
        </p:spPr>
        <p:txBody>
          <a:bodyPr wrap="square">
            <a:spAutoFit/>
          </a:bodyPr>
          <a:lstStyle/>
          <a:p>
            <a:pPr>
              <a:spcBef>
                <a:spcPts val="0"/>
              </a:spcBef>
              <a:defRPr sz="1350" b="1">
                <a:solidFill>
                  <a:srgbClr val="CC0000"/>
                </a:solidFill>
                <a:latin typeface="Calibri"/>
              </a:defRPr>
            </a:pPr>
            <a:r>
              <a:t>• Volume vs Staffing Disparity</a:t>
            </a:r>
          </a:p>
          <a:p>
            <a:pPr>
              <a:spcBef>
                <a:spcPts val="200"/>
              </a:spcBef>
              <a:defRPr sz="1200">
                <a:solidFill>
                  <a:srgbClr val="1E293B"/>
                </a:solidFill>
                <a:latin typeface="Calibri"/>
              </a:defRPr>
            </a:pPr>
            <a:r>
              <a:t>Ernakulam Central registers the highest total volume (1,939 cases), but has 159 active officers (healthy: 12.2 c/off). Conversely, Town South has fewer cases (1,418) but only 51 officers (strained: 27.8 c/off), making it highly vulnerable.</a:t>
            </a:r>
          </a:p>
          <a:p>
            <a:pPr>
              <a:spcBef>
                <a:spcPts val="800"/>
              </a:spcBef>
              <a:defRPr sz="1350" b="1">
                <a:solidFill>
                  <a:srgbClr val="CC0000"/>
                </a:solidFill>
                <a:latin typeface="Calibri"/>
              </a:defRPr>
            </a:pPr>
            <a:r>
              <a:t>• Coastal &amp; Suburban Strain</a:t>
            </a:r>
          </a:p>
          <a:p>
            <a:pPr>
              <a:spcBef>
                <a:spcPts val="200"/>
              </a:spcBef>
              <a:defRPr sz="1200">
                <a:solidFill>
                  <a:srgbClr val="1E293B"/>
                </a:solidFill>
                <a:latin typeface="Calibri"/>
              </a:defRPr>
            </a:pPr>
            <a:r>
              <a:t>Stations like Panangad face severe caseload strain (45.9 c/off during sprees). Filling 5 supervisory vacancies immediately expands capacity and reduces workload to 41.6 c/off.</a:t>
            </a:r>
          </a:p>
          <a:p>
            <a:pPr>
              <a:spcBef>
                <a:spcPts val="800"/>
              </a:spcBef>
              <a:defRPr sz="1350" b="1">
                <a:solidFill>
                  <a:srgbClr val="CC0000"/>
                </a:solidFill>
                <a:latin typeface="Calibri"/>
              </a:defRPr>
            </a:pPr>
            <a:r>
              <a:t>• Actionable Resource Allocation</a:t>
            </a:r>
          </a:p>
          <a:p>
            <a:pPr>
              <a:spcBef>
                <a:spcPts val="200"/>
              </a:spcBef>
              <a:defRPr sz="1200">
                <a:solidFill>
                  <a:srgbClr val="1E293B"/>
                </a:solidFill>
                <a:latin typeface="Calibri"/>
              </a:defRPr>
            </a:pPr>
            <a:r>
              <a:t>1. Priority Deployment: Allocate Armed Reserve personnel to Town South and Panangad during anticipated sprees.</a:t>
            </a:r>
            <a:br/>
            <a:r>
              <a:t>2. Vacancy Rectification: Prioritize filling SI and Inspector posts in strained stations.</a:t>
            </a:r>
            <a:br/>
            <a:r>
              <a:t>3. Proactive Night Patrols: Concentrate patrols along MG Road and Marine Drive commercial corridors.</a:t>
            </a:r>
          </a:p>
        </p:txBody>
      </p:sp>
      <p:sp>
        <p:nvSpPr>
          <p:cNvPr id="5" name="Rectangle 4"/>
          <p:cNvSpPr/>
          <p:nvPr/>
        </p:nvSpPr>
        <p:spPr>
          <a:xfrm>
            <a:off x="0" y="4709160"/>
            <a:ext cx="9144000" cy="43891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727448"/>
            <a:ext cx="5943600" cy="365760"/>
          </a:xfrm>
          <a:prstGeom prst="rect">
            <a:avLst/>
          </a:prstGeom>
          <a:noFill/>
        </p:spPr>
        <p:txBody>
          <a:bodyPr wrap="none">
            <a:spAutoFit/>
          </a:bodyPr>
          <a:lstStyle/>
          <a:p>
            <a:pPr>
              <a:defRPr sz="1100">
                <a:solidFill>
                  <a:srgbClr val="FFFFFF"/>
                </a:solidFill>
                <a:latin typeface="Calibri"/>
              </a:defRPr>
            </a:pPr>
            <a:r>
              <a:t>Crime Hotspots Prediction  |  DATAMI  |  Dept. of CSE(AI)</a:t>
            </a:r>
          </a:p>
        </p:txBody>
      </p:sp>
      <p:sp>
        <p:nvSpPr>
          <p:cNvPr id="7" name="TextBox 6"/>
          <p:cNvSpPr txBox="1"/>
          <p:nvPr/>
        </p:nvSpPr>
        <p:spPr>
          <a:xfrm>
            <a:off x="7772400" y="4727448"/>
            <a:ext cx="914400" cy="365760"/>
          </a:xfrm>
          <a:prstGeom prst="rect">
            <a:avLst/>
          </a:prstGeom>
          <a:noFill/>
        </p:spPr>
        <p:txBody>
          <a:bodyPr wrap="none">
            <a:spAutoFit/>
          </a:bodyPr>
          <a:lstStyle/>
          <a:p>
            <a:pPr algn="r">
              <a:defRPr sz="1200" b="1">
                <a:solidFill>
                  <a:srgbClr val="FFFFFF"/>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7818120" y="164592"/>
            <a:ext cx="1005840" cy="571293"/>
          </a:xfrm>
          <a:prstGeom prst="rect">
            <a:avLst/>
          </a:prstGeom>
        </p:spPr>
      </p:pic>
      <p:sp>
        <p:nvSpPr>
          <p:cNvPr id="3" name="TextBox 2"/>
          <p:cNvSpPr txBox="1"/>
          <p:nvPr/>
        </p:nvSpPr>
        <p:spPr>
          <a:xfrm>
            <a:off x="548640" y="320040"/>
            <a:ext cx="7132320" cy="685800"/>
          </a:xfrm>
          <a:prstGeom prst="rect">
            <a:avLst/>
          </a:prstGeom>
          <a:noFill/>
        </p:spPr>
        <p:txBody>
          <a:bodyPr wrap="square">
            <a:spAutoFit/>
          </a:bodyPr>
          <a:lstStyle/>
          <a:p>
            <a:pPr>
              <a:defRPr sz="2300" b="1">
                <a:solidFill>
                  <a:srgbClr val="0F172A"/>
                </a:solidFill>
                <a:latin typeface="Calibri"/>
              </a:defRPr>
            </a:pPr>
            <a:r>
              <a:t>Live Geospatial Interface &amp; Station Cartography</a:t>
            </a:r>
          </a:p>
          <a:p>
            <a:pPr>
              <a:defRPr sz="1100" b="1">
                <a:solidFill>
                  <a:srgbClr val="CC0000"/>
                </a:solidFill>
                <a:latin typeface="Calibri"/>
              </a:defRPr>
            </a:pPr>
            <a:r>
              <a:t>ACTUAL SCREENSHOT FROM WORKING LEAFLET OPENSTREETMAP APPLICATION</a:t>
            </a:r>
          </a:p>
        </p:txBody>
      </p:sp>
      <p:pic>
        <p:nvPicPr>
          <p:cNvPr id="4" name="Picture 3" descr="working_map_cropped.png"/>
          <p:cNvPicPr>
            <a:picLocks noChangeAspect="1"/>
          </p:cNvPicPr>
          <p:nvPr/>
        </p:nvPicPr>
        <p:blipFill>
          <a:blip r:embed="rId3"/>
          <a:stretch>
            <a:fillRect/>
          </a:stretch>
        </p:blipFill>
        <p:spPr>
          <a:xfrm>
            <a:off x="548640" y="1097280"/>
            <a:ext cx="4754880" cy="2412402"/>
          </a:xfrm>
          <a:prstGeom prst="rect">
            <a:avLst/>
          </a:prstGeom>
        </p:spPr>
      </p:pic>
      <p:sp>
        <p:nvSpPr>
          <p:cNvPr id="5" name="TextBox 4"/>
          <p:cNvSpPr txBox="1"/>
          <p:nvPr/>
        </p:nvSpPr>
        <p:spPr>
          <a:xfrm>
            <a:off x="5394960" y="1097280"/>
            <a:ext cx="3291840" cy="3337560"/>
          </a:xfrm>
          <a:prstGeom prst="rect">
            <a:avLst/>
          </a:prstGeom>
          <a:noFill/>
        </p:spPr>
        <p:txBody>
          <a:bodyPr wrap="square">
            <a:spAutoFit/>
          </a:bodyPr>
          <a:lstStyle/>
          <a:p>
            <a:pPr>
              <a:defRPr sz="1300" b="1">
                <a:solidFill>
                  <a:srgbClr val="CC0000"/>
                </a:solidFill>
                <a:latin typeface="Calibri"/>
              </a:defRPr>
            </a:pPr>
            <a:r>
              <a:t>Delivered Web Application Features:</a:t>
            </a:r>
          </a:p>
          <a:p>
            <a:pPr>
              <a:spcBef>
                <a:spcPts val="400"/>
              </a:spcBef>
              <a:defRPr sz="1100">
                <a:solidFill>
                  <a:srgbClr val="1E293B"/>
                </a:solidFill>
                <a:latin typeface="Calibri"/>
              </a:defRPr>
            </a:pPr>
            <a:r>
              <a:t>• Real OpenStreetMap Cartography: Geocoded markers for all 37 police stations across Kochi.</a:t>
            </a:r>
          </a:p>
          <a:p>
            <a:pPr>
              <a:spcBef>
                <a:spcPts val="400"/>
              </a:spcBef>
              <a:defRPr sz="1100">
                <a:solidFill>
                  <a:srgbClr val="1E293B"/>
                </a:solidFill>
                <a:latin typeface="Calibri"/>
              </a:defRPr>
            </a:pPr>
            <a:r>
              <a:t>• Risk Color-Coding: Red pins for Understaffed Alerts, Amber for Moderate, Green for Resilient.</a:t>
            </a:r>
          </a:p>
          <a:p>
            <a:pPr>
              <a:spcBef>
                <a:spcPts val="400"/>
              </a:spcBef>
              <a:defRPr sz="1100">
                <a:solidFill>
                  <a:srgbClr val="1E293B"/>
                </a:solidFill>
                <a:latin typeface="Calibri"/>
              </a:defRPr>
            </a:pPr>
            <a:r>
              <a:t>• Interactive Station Drawer: Clicking any marker opens full SHO details, jurisdiction boundaries, and direct phone.</a:t>
            </a:r>
          </a:p>
          <a:p>
            <a:pPr>
              <a:spcBef>
                <a:spcPts val="400"/>
              </a:spcBef>
              <a:defRPr sz="1100">
                <a:solidFill>
                  <a:srgbClr val="1E293B"/>
                </a:solidFill>
                <a:latin typeface="Calibri"/>
              </a:defRPr>
            </a:pPr>
            <a:r>
              <a:t>• Real-Time Surge Simulator: Adjust spree surge (+25%, +50%, +100%) and workload threshold live.</a:t>
            </a:r>
          </a:p>
          <a:p>
            <a:pPr>
              <a:spcBef>
                <a:spcPts val="400"/>
              </a:spcBef>
              <a:defRPr sz="1100">
                <a:solidFill>
                  <a:srgbClr val="1E293B"/>
                </a:solidFill>
                <a:latin typeface="Calibri"/>
              </a:defRPr>
            </a:pPr>
            <a:r>
              <a:t>• 10-Year Crime Trendline: Historical Recharts visualization of IPC and SLL crime trajectories.</a:t>
            </a:r>
          </a:p>
        </p:txBody>
      </p:sp>
      <p:sp>
        <p:nvSpPr>
          <p:cNvPr id="6" name="Rectangle 5"/>
          <p:cNvSpPr/>
          <p:nvPr/>
        </p:nvSpPr>
        <p:spPr>
          <a:xfrm>
            <a:off x="0" y="4709160"/>
            <a:ext cx="9144000" cy="43891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727448"/>
            <a:ext cx="5943600" cy="365760"/>
          </a:xfrm>
          <a:prstGeom prst="rect">
            <a:avLst/>
          </a:prstGeom>
          <a:noFill/>
        </p:spPr>
        <p:txBody>
          <a:bodyPr wrap="none">
            <a:spAutoFit/>
          </a:bodyPr>
          <a:lstStyle/>
          <a:p>
            <a:pPr>
              <a:defRPr sz="1100">
                <a:solidFill>
                  <a:srgbClr val="FFFFFF"/>
                </a:solidFill>
                <a:latin typeface="Calibri"/>
              </a:defRPr>
            </a:pPr>
            <a:r>
              <a:t>Crime Hotspots Prediction  |  DATAMI  |  Dept. of CSE(AI)</a:t>
            </a:r>
          </a:p>
        </p:txBody>
      </p:sp>
      <p:sp>
        <p:nvSpPr>
          <p:cNvPr id="8" name="TextBox 7"/>
          <p:cNvSpPr txBox="1"/>
          <p:nvPr/>
        </p:nvSpPr>
        <p:spPr>
          <a:xfrm>
            <a:off x="7772400" y="4727448"/>
            <a:ext cx="914400" cy="365760"/>
          </a:xfrm>
          <a:prstGeom prst="rect">
            <a:avLst/>
          </a:prstGeom>
          <a:noFill/>
        </p:spPr>
        <p:txBody>
          <a:bodyPr wrap="none">
            <a:spAutoFit/>
          </a:bodyPr>
          <a:lstStyle/>
          <a:p>
            <a:pPr algn="r">
              <a:defRPr sz="1200" b="1">
                <a:solidFill>
                  <a:srgbClr val="FFFFFF"/>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7818120" y="164592"/>
            <a:ext cx="1005840" cy="571293"/>
          </a:xfrm>
          <a:prstGeom prst="rect">
            <a:avLst/>
          </a:prstGeom>
        </p:spPr>
      </p:pic>
      <p:sp>
        <p:nvSpPr>
          <p:cNvPr id="3" name="TextBox 2"/>
          <p:cNvSpPr txBox="1"/>
          <p:nvPr/>
        </p:nvSpPr>
        <p:spPr>
          <a:xfrm>
            <a:off x="548640" y="320040"/>
            <a:ext cx="7132320" cy="685800"/>
          </a:xfrm>
          <a:prstGeom prst="rect">
            <a:avLst/>
          </a:prstGeom>
          <a:noFill/>
        </p:spPr>
        <p:txBody>
          <a:bodyPr wrap="square">
            <a:spAutoFit/>
          </a:bodyPr>
          <a:lstStyle/>
          <a:p>
            <a:pPr>
              <a:defRPr sz="2300" b="1">
                <a:solidFill>
                  <a:srgbClr val="0F172A"/>
                </a:solidFill>
                <a:latin typeface="Calibri"/>
              </a:defRPr>
            </a:pPr>
            <a:r>
              <a:t>Technology Stack &amp; Justifications</a:t>
            </a:r>
          </a:p>
          <a:p>
            <a:pPr>
              <a:defRPr sz="1100" b="1">
                <a:solidFill>
                  <a:srgbClr val="CC0000"/>
                </a:solidFill>
                <a:latin typeface="Calibri"/>
              </a:defRPr>
            </a:pPr>
            <a:r>
              <a:t>SYSTEM ARCHITECTURE COMPONENTS</a:t>
            </a:r>
          </a:p>
        </p:txBody>
      </p:sp>
      <p:graphicFrame>
        <p:nvGraphicFramePr>
          <p:cNvPr id="4" name="Table 3"/>
          <p:cNvGraphicFramePr>
            <a:graphicFrameLocks noGrp="1"/>
          </p:cNvGraphicFramePr>
          <p:nvPr/>
        </p:nvGraphicFramePr>
        <p:xfrm>
          <a:off x="731520" y="1188720"/>
          <a:ext cx="7680960" cy="3108960"/>
        </p:xfrm>
        <a:graphic>
          <a:graphicData uri="http://schemas.openxmlformats.org/drawingml/2006/table">
            <a:tbl>
              <a:tblPr firstRow="1" bandRow="1">
                <a:tableStyleId>{5C22544A-7EE6-4342-B048-85BDC9FD1C3A}</a:tableStyleId>
              </a:tblPr>
              <a:tblGrid>
                <a:gridCol w="1645920"/>
                <a:gridCol w="2011680"/>
                <a:gridCol w="4023360"/>
              </a:tblGrid>
              <a:tr h="444137">
                <a:tc>
                  <a:txBody>
                    <a:bodyPr/>
                    <a:lstStyle/>
                    <a:p>
                      <a:pPr>
                        <a:defRPr b="1" sz="1100">
                          <a:solidFill>
                            <a:srgbClr val="FFFFFF"/>
                          </a:solidFill>
                          <a:latin typeface="Calibri"/>
                        </a:defRPr>
                      </a:pPr>
                      <a:r>
                        <a:t>Component</a:t>
                      </a:r>
                    </a:p>
                  </a:txBody>
                  <a:tcPr>
                    <a:solidFill>
                      <a:srgbClr val="0F172A"/>
                    </a:solidFill>
                  </a:tcPr>
                </a:tc>
                <a:tc>
                  <a:txBody>
                    <a:bodyPr/>
                    <a:lstStyle/>
                    <a:p>
                      <a:pPr>
                        <a:defRPr b="1" sz="1100">
                          <a:solidFill>
                            <a:srgbClr val="FFFFFF"/>
                          </a:solidFill>
                          <a:latin typeface="Calibri"/>
                        </a:defRPr>
                      </a:pPr>
                      <a:r>
                        <a:t>Technology Selected</a:t>
                      </a:r>
                    </a:p>
                  </a:txBody>
                  <a:tcPr>
                    <a:solidFill>
                      <a:srgbClr val="0F172A"/>
                    </a:solidFill>
                  </a:tcPr>
                </a:tc>
                <a:tc>
                  <a:txBody>
                    <a:bodyPr/>
                    <a:lstStyle/>
                    <a:p>
                      <a:pPr>
                        <a:defRPr b="1" sz="1100">
                          <a:solidFill>
                            <a:srgbClr val="FFFFFF"/>
                          </a:solidFill>
                          <a:latin typeface="Calibri"/>
                        </a:defRPr>
                      </a:pPr>
                      <a:r>
                        <a:t>Design Justification</a:t>
                      </a:r>
                    </a:p>
                  </a:txBody>
                  <a:tcPr>
                    <a:solidFill>
                      <a:srgbClr val="0F172A"/>
                    </a:solidFill>
                  </a:tcPr>
                </a:tc>
              </a:tr>
              <a:tr h="444137">
                <a:tc>
                  <a:txBody>
                    <a:bodyPr/>
                    <a:lstStyle/>
                    <a:p>
                      <a:pPr>
                        <a:defRPr sz="1000">
                          <a:solidFill>
                            <a:srgbClr val="1E293B"/>
                          </a:solidFill>
                          <a:latin typeface="Calibri"/>
                        </a:defRPr>
                      </a:pPr>
                      <a:r>
                        <a:t>Backend Service</a:t>
                      </a:r>
                    </a:p>
                  </a:txBody>
                  <a:tcPr>
                    <a:solidFill>
                      <a:srgbClr val="F8FAFC"/>
                    </a:solidFill>
                  </a:tcPr>
                </a:tc>
                <a:tc>
                  <a:txBody>
                    <a:bodyPr/>
                    <a:lstStyle/>
                    <a:p>
                      <a:pPr>
                        <a:defRPr sz="1000">
                          <a:solidFill>
                            <a:srgbClr val="1E293B"/>
                          </a:solidFill>
                          <a:latin typeface="Calibri"/>
                        </a:defRPr>
                      </a:pPr>
                      <a:r>
                        <a:t>Python 3.12+ &amp; FastAPI</a:t>
                      </a:r>
                    </a:p>
                  </a:txBody>
                  <a:tcPr>
                    <a:solidFill>
                      <a:srgbClr val="F8FAFC"/>
                    </a:solidFill>
                  </a:tcPr>
                </a:tc>
                <a:tc>
                  <a:txBody>
                    <a:bodyPr/>
                    <a:lstStyle/>
                    <a:p>
                      <a:pPr>
                        <a:defRPr sz="1000">
                          <a:solidFill>
                            <a:srgbClr val="1E293B"/>
                          </a:solidFill>
                          <a:latin typeface="Calibri"/>
                        </a:defRPr>
                      </a:pPr>
                      <a:r>
                        <a:t>High-throughput asynchronous REST API with automatic OpenAPI documentation.</a:t>
                      </a:r>
                    </a:p>
                  </a:txBody>
                  <a:tcPr>
                    <a:solidFill>
                      <a:srgbClr val="F8FAFC"/>
                    </a:solidFill>
                  </a:tcPr>
                </a:tc>
              </a:tr>
              <a:tr h="444137">
                <a:tc>
                  <a:txBody>
                    <a:bodyPr/>
                    <a:lstStyle/>
                    <a:p>
                      <a:pPr>
                        <a:defRPr sz="1000">
                          <a:solidFill>
                            <a:srgbClr val="1E293B"/>
                          </a:solidFill>
                          <a:latin typeface="Calibri"/>
                        </a:defRPr>
                      </a:pPr>
                      <a:r>
                        <a:t>Data Processing</a:t>
                      </a:r>
                    </a:p>
                  </a:txBody>
                  <a:tcPr>
                    <a:solidFill>
                      <a:srgbClr val="FFFFFF"/>
                    </a:solidFill>
                  </a:tcPr>
                </a:tc>
                <a:tc>
                  <a:txBody>
                    <a:bodyPr/>
                    <a:lstStyle/>
                    <a:p>
                      <a:pPr>
                        <a:defRPr sz="1000">
                          <a:solidFill>
                            <a:srgbClr val="1E293B"/>
                          </a:solidFill>
                          <a:latin typeface="Calibri"/>
                        </a:defRPr>
                      </a:pPr>
                      <a:r>
                        <a:t>Pandas &amp; NumPy</a:t>
                      </a:r>
                    </a:p>
                  </a:txBody>
                  <a:tcPr>
                    <a:solidFill>
                      <a:srgbClr val="FFFFFF"/>
                    </a:solidFill>
                  </a:tcPr>
                </a:tc>
                <a:tc>
                  <a:txBody>
                    <a:bodyPr/>
                    <a:lstStyle/>
                    <a:p>
                      <a:pPr>
                        <a:defRPr sz="1000">
                          <a:solidFill>
                            <a:srgbClr val="1E293B"/>
                          </a:solidFill>
                          <a:latin typeface="Calibri"/>
                        </a:defRPr>
                      </a:pPr>
                      <a:r>
                        <a:t>Vectorized tabular manipulation and multidimensional OLAP aggregations.</a:t>
                      </a:r>
                    </a:p>
                  </a:txBody>
                  <a:tcPr>
                    <a:solidFill>
                      <a:srgbClr val="FFFFFF"/>
                    </a:solidFill>
                  </a:tcPr>
                </a:tc>
              </a:tr>
              <a:tr h="444137">
                <a:tc>
                  <a:txBody>
                    <a:bodyPr/>
                    <a:lstStyle/>
                    <a:p>
                      <a:pPr>
                        <a:defRPr sz="1000">
                          <a:solidFill>
                            <a:srgbClr val="1E293B"/>
                          </a:solidFill>
                          <a:latin typeface="Calibri"/>
                        </a:defRPr>
                      </a:pPr>
                      <a:r>
                        <a:t>Machine Learning</a:t>
                      </a:r>
                    </a:p>
                  </a:txBody>
                  <a:tcPr>
                    <a:solidFill>
                      <a:srgbClr val="F8FAFC"/>
                    </a:solidFill>
                  </a:tcPr>
                </a:tc>
                <a:tc>
                  <a:txBody>
                    <a:bodyPr/>
                    <a:lstStyle/>
                    <a:p>
                      <a:pPr>
                        <a:defRPr sz="1000">
                          <a:solidFill>
                            <a:srgbClr val="1E293B"/>
                          </a:solidFill>
                          <a:latin typeface="Calibri"/>
                        </a:defRPr>
                      </a:pPr>
                      <a:r>
                        <a:t>scikit-learn (CART)</a:t>
                      </a:r>
                    </a:p>
                  </a:txBody>
                  <a:tcPr>
                    <a:solidFill>
                      <a:srgbClr val="F8FAFC"/>
                    </a:solidFill>
                  </a:tcPr>
                </a:tc>
                <a:tc>
                  <a:txBody>
                    <a:bodyPr/>
                    <a:lstStyle/>
                    <a:p>
                      <a:pPr>
                        <a:defRPr sz="1000">
                          <a:solidFill>
                            <a:srgbClr val="1E293B"/>
                          </a:solidFill>
                          <a:latin typeface="Calibri"/>
                        </a:defRPr>
                      </a:pPr>
                      <a:r>
                        <a:t>Robust, reproducible implementation of Gini Decision Trees with max depth 3.</a:t>
                      </a:r>
                    </a:p>
                  </a:txBody>
                  <a:tcPr>
                    <a:solidFill>
                      <a:srgbClr val="F8FAFC"/>
                    </a:solidFill>
                  </a:tcPr>
                </a:tc>
              </a:tr>
              <a:tr h="444137">
                <a:tc>
                  <a:txBody>
                    <a:bodyPr/>
                    <a:lstStyle/>
                    <a:p>
                      <a:pPr>
                        <a:defRPr sz="1000">
                          <a:solidFill>
                            <a:srgbClr val="1E293B"/>
                          </a:solidFill>
                          <a:latin typeface="Calibri"/>
                        </a:defRPr>
                      </a:pPr>
                      <a:r>
                        <a:t>Relational Storage</a:t>
                      </a:r>
                    </a:p>
                  </a:txBody>
                  <a:tcPr>
                    <a:solidFill>
                      <a:srgbClr val="FFFFFF"/>
                    </a:solidFill>
                  </a:tcPr>
                </a:tc>
                <a:tc>
                  <a:txBody>
                    <a:bodyPr/>
                    <a:lstStyle/>
                    <a:p>
                      <a:pPr>
                        <a:defRPr sz="1000">
                          <a:solidFill>
                            <a:srgbClr val="1E293B"/>
                          </a:solidFill>
                          <a:latin typeface="Calibri"/>
                        </a:defRPr>
                      </a:pPr>
                      <a:r>
                        <a:t>SQLite 3</a:t>
                      </a:r>
                    </a:p>
                  </a:txBody>
                  <a:tcPr>
                    <a:solidFill>
                      <a:srgbClr val="FFFFFF"/>
                    </a:solidFill>
                  </a:tcPr>
                </a:tc>
                <a:tc>
                  <a:txBody>
                    <a:bodyPr/>
                    <a:lstStyle/>
                    <a:p>
                      <a:pPr>
                        <a:defRPr sz="1000">
                          <a:solidFill>
                            <a:srgbClr val="1E293B"/>
                          </a:solidFill>
                          <a:latin typeface="Calibri"/>
                        </a:defRPr>
                      </a:pPr>
                      <a:r>
                        <a:t>Zero-configuration embedded relational warehouse supporting ACID OLAP SQL.</a:t>
                      </a:r>
                    </a:p>
                  </a:txBody>
                  <a:tcPr>
                    <a:solidFill>
                      <a:srgbClr val="FFFFFF"/>
                    </a:solidFill>
                  </a:tcPr>
                </a:tc>
              </a:tr>
              <a:tr h="444137">
                <a:tc>
                  <a:txBody>
                    <a:bodyPr/>
                    <a:lstStyle/>
                    <a:p>
                      <a:pPr>
                        <a:defRPr sz="1000">
                          <a:solidFill>
                            <a:srgbClr val="1E293B"/>
                          </a:solidFill>
                          <a:latin typeface="Calibri"/>
                        </a:defRPr>
                      </a:pPr>
                      <a:r>
                        <a:t>Frontend UI</a:t>
                      </a:r>
                    </a:p>
                  </a:txBody>
                  <a:tcPr>
                    <a:solidFill>
                      <a:srgbClr val="F8FAFC"/>
                    </a:solidFill>
                  </a:tcPr>
                </a:tc>
                <a:tc>
                  <a:txBody>
                    <a:bodyPr/>
                    <a:lstStyle/>
                    <a:p>
                      <a:pPr>
                        <a:defRPr sz="1000">
                          <a:solidFill>
                            <a:srgbClr val="1E293B"/>
                          </a:solidFill>
                          <a:latin typeface="Calibri"/>
                        </a:defRPr>
                      </a:pPr>
                      <a:r>
                        <a:t>React 19 &amp; TypeScript</a:t>
                      </a:r>
                    </a:p>
                  </a:txBody>
                  <a:tcPr>
                    <a:solidFill>
                      <a:srgbClr val="F8FAFC"/>
                    </a:solidFill>
                  </a:tcPr>
                </a:tc>
                <a:tc>
                  <a:txBody>
                    <a:bodyPr/>
                    <a:lstStyle/>
                    <a:p>
                      <a:pPr>
                        <a:defRPr sz="1000">
                          <a:solidFill>
                            <a:srgbClr val="1E293B"/>
                          </a:solidFill>
                          <a:latin typeface="Calibri"/>
                        </a:defRPr>
                      </a:pPr>
                      <a:r>
                        <a:t>Type-safe reactive state management with instant Vite development server.</a:t>
                      </a:r>
                    </a:p>
                  </a:txBody>
                  <a:tcPr>
                    <a:solidFill>
                      <a:srgbClr val="F8FAFC"/>
                    </a:solidFill>
                  </a:tcPr>
                </a:tc>
              </a:tr>
              <a:tr h="444138">
                <a:tc>
                  <a:txBody>
                    <a:bodyPr/>
                    <a:lstStyle/>
                    <a:p>
                      <a:pPr>
                        <a:defRPr sz="1000">
                          <a:solidFill>
                            <a:srgbClr val="1E293B"/>
                          </a:solidFill>
                          <a:latin typeface="Calibri"/>
                        </a:defRPr>
                      </a:pPr>
                      <a:r>
                        <a:t>Geospatial Map</a:t>
                      </a:r>
                    </a:p>
                  </a:txBody>
                  <a:tcPr>
                    <a:solidFill>
                      <a:srgbClr val="FFFFFF"/>
                    </a:solidFill>
                  </a:tcPr>
                </a:tc>
                <a:tc>
                  <a:txBody>
                    <a:bodyPr/>
                    <a:lstStyle/>
                    <a:p>
                      <a:pPr>
                        <a:defRPr sz="1000">
                          <a:solidFill>
                            <a:srgbClr val="1E293B"/>
                          </a:solidFill>
                          <a:latin typeface="Calibri"/>
                        </a:defRPr>
                      </a:pPr>
                      <a:r>
                        <a:t>Leaflet &amp; OpenStreetMap</a:t>
                      </a:r>
                    </a:p>
                  </a:txBody>
                  <a:tcPr>
                    <a:solidFill>
                      <a:srgbClr val="FFFFFF"/>
                    </a:solidFill>
                  </a:tcPr>
                </a:tc>
                <a:tc>
                  <a:txBody>
                    <a:bodyPr/>
                    <a:lstStyle/>
                    <a:p>
                      <a:pPr>
                        <a:defRPr sz="1000">
                          <a:solidFill>
                            <a:srgbClr val="1E293B"/>
                          </a:solidFill>
                          <a:latin typeface="Calibri"/>
                        </a:defRPr>
                      </a:pPr>
                      <a:r>
                        <a:t>Lightweight vector cartography with zero third-party API keys or fees.</a:t>
                      </a:r>
                    </a:p>
                  </a:txBody>
                  <a:tcPr>
                    <a:solidFill>
                      <a:srgbClr val="FFFFFF"/>
                    </a:solidFill>
                  </a:tcPr>
                </a:tc>
              </a:tr>
            </a:tbl>
          </a:graphicData>
        </a:graphic>
      </p:graphicFrame>
      <p:sp>
        <p:nvSpPr>
          <p:cNvPr id="5" name="Rectangle 4"/>
          <p:cNvSpPr/>
          <p:nvPr/>
        </p:nvSpPr>
        <p:spPr>
          <a:xfrm>
            <a:off x="0" y="4709160"/>
            <a:ext cx="9144000" cy="43891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727448"/>
            <a:ext cx="5943600" cy="365760"/>
          </a:xfrm>
          <a:prstGeom prst="rect">
            <a:avLst/>
          </a:prstGeom>
          <a:noFill/>
        </p:spPr>
        <p:txBody>
          <a:bodyPr wrap="none">
            <a:spAutoFit/>
          </a:bodyPr>
          <a:lstStyle/>
          <a:p>
            <a:pPr>
              <a:defRPr sz="1100">
                <a:solidFill>
                  <a:srgbClr val="FFFFFF"/>
                </a:solidFill>
                <a:latin typeface="Calibri"/>
              </a:defRPr>
            </a:pPr>
            <a:r>
              <a:t>Crime Hotspots Prediction  |  DATAMI  |  Dept. of CSE(AI)</a:t>
            </a:r>
          </a:p>
        </p:txBody>
      </p:sp>
      <p:sp>
        <p:nvSpPr>
          <p:cNvPr id="7" name="TextBox 6"/>
          <p:cNvSpPr txBox="1"/>
          <p:nvPr/>
        </p:nvSpPr>
        <p:spPr>
          <a:xfrm>
            <a:off x="7772400" y="4727448"/>
            <a:ext cx="914400" cy="365760"/>
          </a:xfrm>
          <a:prstGeom prst="rect">
            <a:avLst/>
          </a:prstGeom>
          <a:noFill/>
        </p:spPr>
        <p:txBody>
          <a:bodyPr wrap="none">
            <a:spAutoFit/>
          </a:bodyPr>
          <a:lstStyle/>
          <a:p>
            <a:pPr algn="r">
              <a:defRPr sz="1200" b="1">
                <a:solidFill>
                  <a:srgbClr val="FFFFFF"/>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7818120" y="164592"/>
            <a:ext cx="1005840" cy="571293"/>
          </a:xfrm>
          <a:prstGeom prst="rect">
            <a:avLst/>
          </a:prstGeom>
        </p:spPr>
      </p:pic>
      <p:sp>
        <p:nvSpPr>
          <p:cNvPr id="3" name="TextBox 2"/>
          <p:cNvSpPr txBox="1"/>
          <p:nvPr/>
        </p:nvSpPr>
        <p:spPr>
          <a:xfrm>
            <a:off x="548640" y="320040"/>
            <a:ext cx="7132320" cy="685800"/>
          </a:xfrm>
          <a:prstGeom prst="rect">
            <a:avLst/>
          </a:prstGeom>
          <a:noFill/>
        </p:spPr>
        <p:txBody>
          <a:bodyPr wrap="square">
            <a:spAutoFit/>
          </a:bodyPr>
          <a:lstStyle/>
          <a:p>
            <a:pPr>
              <a:defRPr sz="2300" b="1">
                <a:solidFill>
                  <a:srgbClr val="0F172A"/>
                </a:solidFill>
                <a:latin typeface="Calibri"/>
              </a:defRPr>
            </a:pPr>
            <a:r>
              <a:t>Conclusion &amp; Future Scope</a:t>
            </a:r>
          </a:p>
          <a:p>
            <a:pPr>
              <a:defRPr sz="1100" b="1">
                <a:solidFill>
                  <a:srgbClr val="CC0000"/>
                </a:solidFill>
                <a:latin typeface="Calibri"/>
              </a:defRPr>
            </a:pPr>
            <a:r>
              <a:t>SUMMARY OF ACHIEVEMENTS &amp; FUTURE ROADMAP</a:t>
            </a:r>
          </a:p>
        </p:txBody>
      </p:sp>
      <p:sp>
        <p:nvSpPr>
          <p:cNvPr id="4" name="TextBox 3"/>
          <p:cNvSpPr txBox="1"/>
          <p:nvPr/>
        </p:nvSpPr>
        <p:spPr>
          <a:xfrm>
            <a:off x="731520" y="1143000"/>
            <a:ext cx="7680960" cy="3291840"/>
          </a:xfrm>
          <a:prstGeom prst="rect">
            <a:avLst/>
          </a:prstGeom>
          <a:noFill/>
        </p:spPr>
        <p:txBody>
          <a:bodyPr wrap="square">
            <a:spAutoFit/>
          </a:bodyPr>
          <a:lstStyle/>
          <a:p>
            <a:pPr>
              <a:defRPr sz="1400" b="1">
                <a:solidFill>
                  <a:srgbClr val="CC0000"/>
                </a:solidFill>
                <a:latin typeface="Calibri"/>
              </a:defRPr>
            </a:pPr>
            <a:r>
              <a:t>Key Project Achievements:</a:t>
            </a:r>
          </a:p>
          <a:p>
            <a:pPr>
              <a:spcBef>
                <a:spcPts val="300"/>
              </a:spcBef>
              <a:defRPr sz="1200">
                <a:solidFill>
                  <a:srgbClr val="1E293B"/>
                </a:solidFill>
                <a:latin typeface="Calibri"/>
              </a:defRPr>
            </a:pPr>
            <a:r>
              <a:t>✔ 100% Real Portal Data: 14,262 authentic records across 37 stations with zero synthetic fabrications.</a:t>
            </a:r>
          </a:p>
          <a:p>
            <a:pPr>
              <a:spcBef>
                <a:spcPts val="300"/>
              </a:spcBef>
              <a:defRPr sz="1200">
                <a:solidFill>
                  <a:srgbClr val="1E293B"/>
                </a:solidFill>
                <a:latin typeface="Calibri"/>
              </a:defRPr>
            </a:pPr>
            <a:r>
              <a:t>✔ Explainable AI: CART Decision Tree (depth 3) achieves 61.1% accuracy, outperforming Zero-R &amp; Persistence baselines.</a:t>
            </a:r>
          </a:p>
          <a:p>
            <a:pPr>
              <a:spcBef>
                <a:spcPts val="300"/>
              </a:spcBef>
              <a:defRPr sz="1200">
                <a:solidFill>
                  <a:srgbClr val="1E293B"/>
                </a:solidFill>
                <a:latin typeface="Calibri"/>
              </a:defRPr>
            </a:pPr>
            <a:r>
              <a:t>✔ Operational Spree Simulation: Models caseload strain under +25% to +100% sprees and proves vacancy mitigation.</a:t>
            </a:r>
          </a:p>
          <a:p>
            <a:pPr>
              <a:spcBef>
                <a:spcPts val="300"/>
              </a:spcBef>
              <a:defRPr sz="1200">
                <a:solidFill>
                  <a:srgbClr val="1E293B"/>
                </a:solidFill>
                <a:latin typeface="Calibri"/>
              </a:defRPr>
            </a:pPr>
            <a:r>
              <a:t>✔ Full-Stack Deployment: Interactive OpenStreetMap WebUI with direct CSV data downloads.</a:t>
            </a:r>
          </a:p>
          <a:p>
            <a:pPr>
              <a:spcBef>
                <a:spcPts val="1200"/>
              </a:spcBef>
              <a:defRPr sz="1400" b="1">
                <a:solidFill>
                  <a:srgbClr val="0F172A"/>
                </a:solidFill>
                <a:latin typeface="Calibri"/>
              </a:defRPr>
            </a:pPr>
            <a:r>
              <a:t>Future Scope &amp; Enhancements:</a:t>
            </a:r>
          </a:p>
          <a:p>
            <a:pPr>
              <a:spcBef>
                <a:spcPts val="300"/>
              </a:spcBef>
              <a:defRPr sz="1200">
                <a:solidFill>
                  <a:srgbClr val="1E293B"/>
                </a:solidFill>
                <a:latin typeface="Calibri"/>
              </a:defRPr>
            </a:pPr>
            <a:r>
              <a:t>1. Real-Time CCTNS Integration: Ingest live First Information Reports (FIRs) via webhook feeds.</a:t>
            </a:r>
          </a:p>
          <a:p>
            <a:pPr>
              <a:spcBef>
                <a:spcPts val="300"/>
              </a:spcBef>
              <a:defRPr sz="1200">
                <a:solidFill>
                  <a:srgbClr val="1E293B"/>
                </a:solidFill>
                <a:latin typeface="Calibri"/>
              </a:defRPr>
            </a:pPr>
            <a:r>
              <a:t>2. Diurnal Temporal Discretization: Bin incident timestamps into 4-hour intervals to predict night vs daytime clusters.</a:t>
            </a:r>
          </a:p>
          <a:p>
            <a:pPr>
              <a:spcBef>
                <a:spcPts val="300"/>
              </a:spcBef>
              <a:defRPr sz="1200">
                <a:solidFill>
                  <a:srgbClr val="1E293B"/>
                </a:solidFill>
                <a:latin typeface="Calibri"/>
              </a:defRPr>
            </a:pPr>
            <a:r>
              <a:t>3. Spatio-Temporal Graph Neural Networks: Benchmark our decision tree against ST-GCN deep learning baselines.</a:t>
            </a:r>
          </a:p>
        </p:txBody>
      </p:sp>
      <p:sp>
        <p:nvSpPr>
          <p:cNvPr id="5" name="Rectangle 4"/>
          <p:cNvSpPr/>
          <p:nvPr/>
        </p:nvSpPr>
        <p:spPr>
          <a:xfrm>
            <a:off x="0" y="4709160"/>
            <a:ext cx="9144000" cy="43891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727448"/>
            <a:ext cx="5943600" cy="365760"/>
          </a:xfrm>
          <a:prstGeom prst="rect">
            <a:avLst/>
          </a:prstGeom>
          <a:noFill/>
        </p:spPr>
        <p:txBody>
          <a:bodyPr wrap="none">
            <a:spAutoFit/>
          </a:bodyPr>
          <a:lstStyle/>
          <a:p>
            <a:pPr>
              <a:defRPr sz="1100">
                <a:solidFill>
                  <a:srgbClr val="FFFFFF"/>
                </a:solidFill>
                <a:latin typeface="Calibri"/>
              </a:defRPr>
            </a:pPr>
            <a:r>
              <a:t>Crime Hotspots Prediction  |  DATAMI  |  Dept. of CSE(AI)</a:t>
            </a:r>
          </a:p>
        </p:txBody>
      </p:sp>
      <p:sp>
        <p:nvSpPr>
          <p:cNvPr id="7" name="TextBox 6"/>
          <p:cNvSpPr txBox="1"/>
          <p:nvPr/>
        </p:nvSpPr>
        <p:spPr>
          <a:xfrm>
            <a:off x="7772400" y="4727448"/>
            <a:ext cx="914400" cy="365760"/>
          </a:xfrm>
          <a:prstGeom prst="rect">
            <a:avLst/>
          </a:prstGeom>
          <a:noFill/>
        </p:spPr>
        <p:txBody>
          <a:bodyPr wrap="none">
            <a:spAutoFit/>
          </a:bodyPr>
          <a:lstStyle/>
          <a:p>
            <a:pPr algn="r">
              <a:defRPr sz="1200" b="1">
                <a:solidFill>
                  <a:srgbClr val="FFFFFF"/>
                </a:solidFill>
                <a:latin typeface="Calibr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7818120" y="164592"/>
            <a:ext cx="1005840" cy="571293"/>
          </a:xfrm>
          <a:prstGeom prst="rect">
            <a:avLst/>
          </a:prstGeom>
        </p:spPr>
      </p:pic>
      <p:sp>
        <p:nvSpPr>
          <p:cNvPr id="3" name="TextBox 2"/>
          <p:cNvSpPr txBox="1"/>
          <p:nvPr/>
        </p:nvSpPr>
        <p:spPr>
          <a:xfrm>
            <a:off x="548640" y="320040"/>
            <a:ext cx="7132320" cy="685800"/>
          </a:xfrm>
          <a:prstGeom prst="rect">
            <a:avLst/>
          </a:prstGeom>
          <a:noFill/>
        </p:spPr>
        <p:txBody>
          <a:bodyPr wrap="square">
            <a:spAutoFit/>
          </a:bodyPr>
          <a:lstStyle/>
          <a:p>
            <a:pPr>
              <a:defRPr sz="2300" b="1">
                <a:solidFill>
                  <a:srgbClr val="0F172A"/>
                </a:solidFill>
                <a:latin typeface="Calibri"/>
              </a:defRPr>
            </a:pPr>
            <a:r>
              <a:t>References</a:t>
            </a:r>
          </a:p>
          <a:p>
            <a:pPr>
              <a:defRPr sz="1100" b="1">
                <a:solidFill>
                  <a:srgbClr val="CC0000"/>
                </a:solidFill>
                <a:latin typeface="Calibri"/>
              </a:defRPr>
            </a:pPr>
            <a:r>
              <a:t>ACADEMIC &amp; OFFICIAL SOURCES UTILIZED DURING IMPLEMENTATION</a:t>
            </a:r>
          </a:p>
        </p:txBody>
      </p:sp>
      <p:sp>
        <p:nvSpPr>
          <p:cNvPr id="4" name="TextBox 3"/>
          <p:cNvSpPr txBox="1"/>
          <p:nvPr/>
        </p:nvSpPr>
        <p:spPr>
          <a:xfrm>
            <a:off x="731520" y="1143000"/>
            <a:ext cx="7680960" cy="3291840"/>
          </a:xfrm>
          <a:prstGeom prst="rect">
            <a:avLst/>
          </a:prstGeom>
          <a:noFill/>
        </p:spPr>
        <p:txBody>
          <a:bodyPr wrap="square">
            <a:spAutoFit/>
          </a:bodyPr>
          <a:lstStyle/>
          <a:p>
            <a:pPr>
              <a:spcAft>
                <a:spcPts val="400"/>
              </a:spcAft>
              <a:defRPr sz="1000">
                <a:solidFill>
                  <a:srgbClr val="1E293B"/>
                </a:solidFill>
                <a:latin typeface="Calibri"/>
              </a:defRPr>
            </a:pPr>
            <a:r>
              <a:t>1. Han, J., Kamber, M., &amp; Pei, J. (2011). Data Mining: Concepts and Techniques (3rd ed.). Morgan Kaufmann Publishers.</a:t>
            </a:r>
          </a:p>
          <a:p>
            <a:pPr>
              <a:spcAft>
                <a:spcPts val="400"/>
              </a:spcAft>
              <a:defRPr sz="1000">
                <a:solidFill>
                  <a:srgbClr val="1E293B"/>
                </a:solidFill>
                <a:latin typeface="Calibri"/>
              </a:defRPr>
            </a:pPr>
            <a:r>
              <a:t>2. Breiman, L., Friedman, J., Stone, C. J., &amp; Olshen, R. A. (1984). Classification and Regression Trees. Chapman &amp; Hall/CRC.</a:t>
            </a:r>
          </a:p>
          <a:p>
            <a:pPr>
              <a:spcAft>
                <a:spcPts val="400"/>
              </a:spcAft>
              <a:defRPr sz="1000">
                <a:solidFill>
                  <a:srgbClr val="1E293B"/>
                </a:solidFill>
                <a:latin typeface="Calibri"/>
              </a:defRPr>
            </a:pPr>
            <a:r>
              <a:t>3. Kerala Police Department. (2024). Police Station Crime Statistics Portal. https://ps.keralapolice.gov.in</a:t>
            </a:r>
          </a:p>
          <a:p>
            <a:pPr>
              <a:spcAft>
                <a:spcPts val="400"/>
              </a:spcAft>
              <a:defRPr sz="1000">
                <a:solidFill>
                  <a:srgbClr val="1E293B"/>
                </a:solidFill>
                <a:latin typeface="Calibri"/>
              </a:defRPr>
            </a:pPr>
            <a:r>
              <a:t>4. Kochi City Police Commissionerate. (2024). Crime Overview and Administrative Records. https://kochicity.keralapolice.gov.in</a:t>
            </a:r>
          </a:p>
          <a:p>
            <a:pPr>
              <a:spcAft>
                <a:spcPts val="400"/>
              </a:spcAft>
              <a:defRPr sz="1000">
                <a:solidFill>
                  <a:srgbClr val="1E293B"/>
                </a:solidFill>
                <a:latin typeface="Calibri"/>
              </a:defRPr>
            </a:pPr>
            <a:r>
              <a:t>5. National Crime Records Bureau (NCRB). (2022). Crime in India 2022. Ministry of Home Affairs, Government of India.</a:t>
            </a:r>
          </a:p>
          <a:p>
            <a:pPr>
              <a:spcAft>
                <a:spcPts val="400"/>
              </a:spcAft>
              <a:defRPr sz="1000">
                <a:solidFill>
                  <a:srgbClr val="1E293B"/>
                </a:solidFill>
                <a:latin typeface="Calibri"/>
              </a:defRPr>
            </a:pPr>
            <a:r>
              <a:t>6. United Nations Department of Economic and Social Affairs. (2015). Sustainable Development Goals (SDG 16, SDG 11, SDG 9).</a:t>
            </a:r>
          </a:p>
          <a:p>
            <a:pPr>
              <a:spcAft>
                <a:spcPts val="400"/>
              </a:spcAft>
              <a:defRPr sz="1000">
                <a:solidFill>
                  <a:srgbClr val="1E293B"/>
                </a:solidFill>
                <a:latin typeface="Calibri"/>
              </a:defRPr>
            </a:pPr>
            <a:r>
              <a:t>7. Chainey, S., &amp; Ratcliffe, J. (2005). GIS and Crime Mapping. John Wiley &amp; Sons.</a:t>
            </a:r>
          </a:p>
          <a:p>
            <a:pPr>
              <a:spcAft>
                <a:spcPts val="400"/>
              </a:spcAft>
              <a:defRPr sz="1000">
                <a:solidFill>
                  <a:srgbClr val="1E293B"/>
                </a:solidFill>
                <a:latin typeface="Calibri"/>
              </a:defRPr>
            </a:pPr>
            <a:r>
              <a:t>8. Pedregosa, F., et al. (2011). Scikit-learn: Machine Learning in Python. Journal of Machine Learning Research, 12, 2825-2830.</a:t>
            </a:r>
          </a:p>
          <a:p>
            <a:pPr>
              <a:spcAft>
                <a:spcPts val="400"/>
              </a:spcAft>
              <a:defRPr sz="1000">
                <a:solidFill>
                  <a:srgbClr val="1E293B"/>
                </a:solidFill>
                <a:latin typeface="Calibri"/>
              </a:defRPr>
            </a:pPr>
            <a:r>
              <a:t>9. Tiarks, E., et al. (2021). Explainable Machine Learning for Predictive Policing: Accountability and Interpretability. AI and Law.</a:t>
            </a:r>
          </a:p>
          <a:p>
            <a:pPr>
              <a:spcAft>
                <a:spcPts val="400"/>
              </a:spcAft>
              <a:defRPr sz="1000">
                <a:solidFill>
                  <a:srgbClr val="1E293B"/>
                </a:solidFill>
                <a:latin typeface="Calibri"/>
              </a:defRPr>
            </a:pPr>
            <a:r>
              <a:t>10. OpenStreetMap Contributors. (2024). OpenStreetMap Spatial Data &amp; Tiles. https://www.openstreetmap.org</a:t>
            </a:r>
          </a:p>
        </p:txBody>
      </p:sp>
      <p:sp>
        <p:nvSpPr>
          <p:cNvPr id="5" name="Rectangle 4"/>
          <p:cNvSpPr/>
          <p:nvPr/>
        </p:nvSpPr>
        <p:spPr>
          <a:xfrm>
            <a:off x="0" y="4709160"/>
            <a:ext cx="9144000" cy="43891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727448"/>
            <a:ext cx="5943600" cy="365760"/>
          </a:xfrm>
          <a:prstGeom prst="rect">
            <a:avLst/>
          </a:prstGeom>
          <a:noFill/>
        </p:spPr>
        <p:txBody>
          <a:bodyPr wrap="none">
            <a:spAutoFit/>
          </a:bodyPr>
          <a:lstStyle/>
          <a:p>
            <a:pPr>
              <a:defRPr sz="1100">
                <a:solidFill>
                  <a:srgbClr val="FFFFFF"/>
                </a:solidFill>
                <a:latin typeface="Calibri"/>
              </a:defRPr>
            </a:pPr>
            <a:r>
              <a:t>Crime Hotspots Prediction  |  DATAMI  |  Dept. of CSE(AI)</a:t>
            </a:r>
          </a:p>
        </p:txBody>
      </p:sp>
      <p:sp>
        <p:nvSpPr>
          <p:cNvPr id="7" name="TextBox 6"/>
          <p:cNvSpPr txBox="1"/>
          <p:nvPr/>
        </p:nvSpPr>
        <p:spPr>
          <a:xfrm>
            <a:off x="7772400" y="4727448"/>
            <a:ext cx="914400" cy="365760"/>
          </a:xfrm>
          <a:prstGeom prst="rect">
            <a:avLst/>
          </a:prstGeom>
          <a:noFill/>
        </p:spPr>
        <p:txBody>
          <a:bodyPr wrap="none">
            <a:spAutoFit/>
          </a:bodyPr>
          <a:lstStyle/>
          <a:p>
            <a:pPr algn="r">
              <a:defRPr sz="1200" b="1">
                <a:solidFill>
                  <a:srgbClr val="FFFFFF"/>
                </a:solidFill>
                <a:latin typeface="Calibri"/>
              </a:defRPr>
            </a:pPr>
            <a: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